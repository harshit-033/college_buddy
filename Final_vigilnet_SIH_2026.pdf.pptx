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  <p:embeddedFont>
      <p:font typeface="Trade Gothic Next Light" panose="020B0403040303020004" pitchFamily="34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114BF8-D45F-41BB-AD31-5F11CB6844B5}">
          <p14:sldIdLst>
            <p14:sldId id="257"/>
          </p14:sldIdLst>
        </p14:section>
        <p14:section name="Untitled Section" id="{F0030A42-9F39-4DE5-927E-2630F306C52D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080808"/>
    <a:srgbClr val="1F497D"/>
    <a:srgbClr val="CCDEFF"/>
    <a:srgbClr val="825DB0"/>
    <a:srgbClr val="FFFFFF"/>
    <a:srgbClr val="EEF1F5"/>
    <a:srgbClr val="E8F5F3"/>
    <a:srgbClr val="D0E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 Singh" userId="d2343c7645c289b0" providerId="LiveId" clId="{A78FF85A-2DF1-45CD-987A-EFC380AC30BF}"/>
    <pc:docChg chg="delSld modSld modSection">
      <pc:chgData name="Harshit Singh" userId="d2343c7645c289b0" providerId="LiveId" clId="{A78FF85A-2DF1-45CD-987A-EFC380AC30BF}" dt="2026-09-16T06:02:45.115" v="1" actId="47"/>
      <pc:docMkLst>
        <pc:docMk/>
      </pc:docMkLst>
      <pc:sldChg chg="del">
        <pc:chgData name="Harshit Singh" userId="d2343c7645c289b0" providerId="LiveId" clId="{A78FF85A-2DF1-45CD-987A-EFC380AC30BF}" dt="2026-09-16T06:02:45.115" v="1" actId="47"/>
        <pc:sldMkLst>
          <pc:docMk/>
          <pc:sldMk cId="0" sldId="25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image" Target="../media/image17.jpeg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image" Target="../media/image17.jpeg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B3AC24-A439-4B37-A3CF-D247508C7FE1}" type="doc">
      <dgm:prSet loTypeId="urn:microsoft.com/office/officeart/2005/8/layout/vList3" loCatId="list" qsTypeId="urn:microsoft.com/office/officeart/2005/8/quickstyle/simple3#1" qsCatId="simple" csTypeId="urn:microsoft.com/office/officeart/2005/8/colors/accent0_1#1" csCatId="mainScheme" phldr="1"/>
      <dgm:spPr/>
      <dgm:t>
        <a:bodyPr/>
        <a:lstStyle/>
        <a:p>
          <a:endParaRPr lang="en-IN"/>
        </a:p>
      </dgm:t>
    </dgm:pt>
    <dgm:pt modelId="{0FFF42A8-D68C-4C93-9A13-1166C30B2746}">
      <dgm:prSet phldrT="[Text]" custT="1"/>
      <dgm:spPr/>
      <dgm:t>
        <a:bodyPr/>
        <a:lstStyle/>
        <a:p>
          <a:r>
            <a:rPr lang="en-IN" sz="2400" b="1" dirty="0"/>
            <a:t>Infrastructure Reuse:</a:t>
          </a:r>
          <a:r>
            <a:rPr lang="en-IN" sz="2400" dirty="0"/>
            <a:t> Integrates with existing </a:t>
          </a:r>
          <a:r>
            <a:rPr lang="en-IN" sz="2400" b="1" dirty="0"/>
            <a:t>CCTV/IP cameras via RTSP/ONVIF</a:t>
          </a:r>
          <a:r>
            <a:rPr lang="en-IN" sz="2400" dirty="0"/>
            <a:t>, minimizing new hardware and deployment cost</a:t>
          </a:r>
        </a:p>
      </dgm:t>
    </dgm:pt>
    <dgm:pt modelId="{CAFD4AAA-AD0E-4CA2-9257-6824C94B0E56}" type="parTrans" cxnId="{DC08CB61-D3D0-4D72-A4AB-75E61BD1B4DC}">
      <dgm:prSet/>
      <dgm:spPr/>
      <dgm:t>
        <a:bodyPr/>
        <a:lstStyle/>
        <a:p>
          <a:endParaRPr lang="en-IN"/>
        </a:p>
      </dgm:t>
    </dgm:pt>
    <dgm:pt modelId="{75F4F0BD-5B08-4C4A-BE69-5CB12D1C8166}" type="sibTrans" cxnId="{DC08CB61-D3D0-4D72-A4AB-75E61BD1B4DC}">
      <dgm:prSet/>
      <dgm:spPr/>
      <dgm:t>
        <a:bodyPr/>
        <a:lstStyle/>
        <a:p>
          <a:endParaRPr lang="en-IN"/>
        </a:p>
      </dgm:t>
    </dgm:pt>
    <dgm:pt modelId="{E8175FAF-4189-43D4-82CB-2628C88F82E8}">
      <dgm:prSet phldrT="[Text]" custT="1"/>
      <dgm:spPr/>
      <dgm:t>
        <a:bodyPr/>
        <a:lstStyle/>
        <a:p>
          <a:r>
            <a:rPr lang="en-IN" sz="2000" b="1" dirty="0"/>
            <a:t>Tiered Asset Discovery:</a:t>
          </a:r>
          <a:r>
            <a:rPr lang="en-IN" sz="2000" dirty="0"/>
            <a:t> Combines </a:t>
          </a:r>
          <a:r>
            <a:rPr lang="en-IN" sz="2000" b="1" dirty="0"/>
            <a:t>network APIs, lightweight endpoint agents, and QR/barcode identification</a:t>
          </a:r>
          <a:r>
            <a:rPr lang="en-IN" sz="2000" dirty="0"/>
            <a:t> to reliably inventory both modern and legacy laboratory equipment.</a:t>
          </a:r>
        </a:p>
      </dgm:t>
    </dgm:pt>
    <dgm:pt modelId="{935668DC-4FF0-4452-BCBF-1C08723509D2}" type="parTrans" cxnId="{D31C22D6-FAD2-4C14-B5EC-43B9608B081D}">
      <dgm:prSet/>
      <dgm:spPr/>
      <dgm:t>
        <a:bodyPr/>
        <a:lstStyle/>
        <a:p>
          <a:endParaRPr lang="en-IN"/>
        </a:p>
      </dgm:t>
    </dgm:pt>
    <dgm:pt modelId="{B967339D-AE81-4528-A406-2C862341BE8A}" type="sibTrans" cxnId="{D31C22D6-FAD2-4C14-B5EC-43B9608B081D}">
      <dgm:prSet/>
      <dgm:spPr/>
      <dgm:t>
        <a:bodyPr/>
        <a:lstStyle/>
        <a:p>
          <a:endParaRPr lang="en-IN"/>
        </a:p>
      </dgm:t>
    </dgm:pt>
    <dgm:pt modelId="{2EBE127E-357D-4CAF-84D1-ACA2DFD14F34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Proven Technology Stack:</a:t>
          </a:r>
          <a:r>
            <a:rPr lang="en-IN" sz="2000" dirty="0"/>
            <a:t> Uses mature and accessible technologies such as </a:t>
          </a:r>
          <a:r>
            <a:rPr lang="en-IN" sz="2000" b="1" dirty="0"/>
            <a:t>Spring Boot, YOLO and OpenCV</a:t>
          </a:r>
          <a:r>
            <a:rPr lang="en-IN" sz="2000" dirty="0"/>
            <a:t>, reducing development and integration risk.</a:t>
          </a:r>
        </a:p>
      </dgm:t>
    </dgm:pt>
    <dgm:pt modelId="{2199CD14-41B7-497B-8D9B-759C5A712E39}" type="parTrans" cxnId="{7AE2CD3B-DB20-4FE8-8570-734489D9B9D3}">
      <dgm:prSet/>
      <dgm:spPr/>
      <dgm:t>
        <a:bodyPr/>
        <a:lstStyle/>
        <a:p>
          <a:endParaRPr lang="en-IN"/>
        </a:p>
      </dgm:t>
    </dgm:pt>
    <dgm:pt modelId="{3D1EC92D-CA79-4988-A8A6-B6D767849702}" type="sibTrans" cxnId="{7AE2CD3B-DB20-4FE8-8570-734489D9B9D3}">
      <dgm:prSet/>
      <dgm:spPr/>
      <dgm:t>
        <a:bodyPr/>
        <a:lstStyle/>
        <a:p>
          <a:endParaRPr lang="en-IN"/>
        </a:p>
      </dgm:t>
    </dgm:pt>
    <dgm:pt modelId="{412ABEDA-8FA6-4A3A-ADF8-0614E3C66AC1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Software-First Architecture:</a:t>
          </a:r>
          <a:r>
            <a:rPr lang="en-IN" sz="2000" dirty="0"/>
            <a:t> Requires minimal additional hardware and can support </a:t>
          </a:r>
          <a:r>
            <a:rPr lang="en-IN" sz="2000" b="1" dirty="0"/>
            <a:t>on-premise or institution-controlled deployment</a:t>
          </a:r>
          <a:r>
            <a:rPr lang="en-IN" sz="2000" dirty="0"/>
            <a:t> for sensitive inspection data.</a:t>
          </a:r>
        </a:p>
      </dgm:t>
    </dgm:pt>
    <dgm:pt modelId="{ABBA9EC2-E213-44C3-A1A0-D6272E0FE5DD}" type="parTrans" cxnId="{343080FF-9C5B-441F-9A19-80AFA8AB7DFB}">
      <dgm:prSet/>
      <dgm:spPr/>
      <dgm:t>
        <a:bodyPr/>
        <a:lstStyle/>
        <a:p>
          <a:endParaRPr lang="en-IN"/>
        </a:p>
      </dgm:t>
    </dgm:pt>
    <dgm:pt modelId="{9A09B302-B393-418B-A852-BB1E96AC91BD}" type="sibTrans" cxnId="{343080FF-9C5B-441F-9A19-80AFA8AB7DFB}">
      <dgm:prSet/>
      <dgm:spPr/>
      <dgm:t>
        <a:bodyPr/>
        <a:lstStyle/>
        <a:p>
          <a:endParaRPr lang="en-IN"/>
        </a:p>
      </dgm:t>
    </dgm:pt>
    <dgm:pt modelId="{45F793CE-0F11-4349-870D-68E7F02AFA5D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Human-in-the-Loop Validation:</a:t>
          </a:r>
          <a:r>
            <a:rPr lang="en-IN" sz="2000" dirty="0"/>
            <a:t> AI-generated findings are supported by source evidence and </a:t>
          </a:r>
          <a:r>
            <a:rPr lang="en-IN" sz="2000" b="1" dirty="0"/>
            <a:t>verified by inspectors</a:t>
          </a:r>
          <a:r>
            <a:rPr lang="en-IN" sz="2000" dirty="0"/>
            <a:t>, reducing the impact of AI false positives/negatives.</a:t>
          </a:r>
        </a:p>
      </dgm:t>
    </dgm:pt>
    <dgm:pt modelId="{D8525347-B289-474B-8CA4-25CE1868B6B9}" type="parTrans" cxnId="{6030CA91-06BD-4082-9096-0ADFF182AED8}">
      <dgm:prSet/>
      <dgm:spPr/>
      <dgm:t>
        <a:bodyPr/>
        <a:lstStyle/>
        <a:p>
          <a:endParaRPr lang="en-IN"/>
        </a:p>
      </dgm:t>
    </dgm:pt>
    <dgm:pt modelId="{077155C4-2D1B-489C-AB9D-F62D7BB42C07}" type="sibTrans" cxnId="{6030CA91-06BD-4082-9096-0ADFF182AED8}">
      <dgm:prSet/>
      <dgm:spPr/>
      <dgm:t>
        <a:bodyPr/>
        <a:lstStyle/>
        <a:p>
          <a:endParaRPr lang="en-IN"/>
        </a:p>
      </dgm:t>
    </dgm:pt>
    <dgm:pt modelId="{33E915C0-8F7F-46A8-A3FE-645408F339BC}">
      <dgm:prSet phldrT="[Text]"/>
      <dgm:spPr/>
      <dgm:t>
        <a:bodyPr/>
        <a:lstStyle/>
        <a:p>
          <a:pPr>
            <a:buNone/>
          </a:pPr>
          <a:r>
            <a:rPr lang="en-IN" b="1" dirty="0"/>
            <a:t>Modular &amp; Scalable:</a:t>
          </a:r>
          <a:r>
            <a:rPr lang="en-IN" dirty="0"/>
            <a:t> The architecture can scale from </a:t>
          </a:r>
          <a:r>
            <a:rPr lang="en-IN" b="1" dirty="0"/>
            <a:t>one laboratory → one institution → multiple institutions</a:t>
          </a:r>
          <a:r>
            <a:rPr lang="en-IN" dirty="0"/>
            <a:t> without redesigning the complete system.</a:t>
          </a:r>
        </a:p>
      </dgm:t>
    </dgm:pt>
    <dgm:pt modelId="{0158533C-B9A6-45FD-AA65-AC141853ECE3}" type="parTrans" cxnId="{C6ACD591-B9B0-4466-9EB0-66BB6A619809}">
      <dgm:prSet/>
      <dgm:spPr/>
      <dgm:t>
        <a:bodyPr/>
        <a:lstStyle/>
        <a:p>
          <a:endParaRPr lang="en-IN"/>
        </a:p>
      </dgm:t>
    </dgm:pt>
    <dgm:pt modelId="{C2EC29C7-BD3E-4376-A098-D7DE04F923E6}" type="sibTrans" cxnId="{C6ACD591-B9B0-4466-9EB0-66BB6A619809}">
      <dgm:prSet/>
      <dgm:spPr/>
      <dgm:t>
        <a:bodyPr/>
        <a:lstStyle/>
        <a:p>
          <a:endParaRPr lang="en-IN"/>
        </a:p>
      </dgm:t>
    </dgm:pt>
    <dgm:pt modelId="{B61398A5-76A1-4EBC-97E2-834833E7C27A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Focused MVP:</a:t>
          </a:r>
          <a:r>
            <a:rPr lang="en-IN" sz="2000" dirty="0"/>
            <a:t> A </a:t>
          </a:r>
          <a:r>
            <a:rPr lang="en-IN" sz="2000" b="1" dirty="0"/>
            <a:t>10-phase vertical development approach</a:t>
          </a:r>
          <a:r>
            <a:rPr lang="en-IN" sz="2000" dirty="0"/>
            <a:t> validates core inspection, asset discovery, evidence reconciliation and reporting capabilities before expanding to diverse legacy equipment.</a:t>
          </a:r>
        </a:p>
      </dgm:t>
    </dgm:pt>
    <dgm:pt modelId="{A9BCDC4F-F590-46D1-B059-D018D53463DB}" type="parTrans" cxnId="{E3C03ECB-E373-4EC2-AB91-AF6EF42D2813}">
      <dgm:prSet/>
      <dgm:spPr/>
      <dgm:t>
        <a:bodyPr/>
        <a:lstStyle/>
        <a:p>
          <a:endParaRPr lang="en-IN"/>
        </a:p>
      </dgm:t>
    </dgm:pt>
    <dgm:pt modelId="{4DC13806-C94C-4572-AC53-B4E69EF05D50}" type="sibTrans" cxnId="{E3C03ECB-E373-4EC2-AB91-AF6EF42D2813}">
      <dgm:prSet/>
      <dgm:spPr/>
      <dgm:t>
        <a:bodyPr/>
        <a:lstStyle/>
        <a:p>
          <a:endParaRPr lang="en-IN"/>
        </a:p>
      </dgm:t>
    </dgm:pt>
    <dgm:pt modelId="{48FA6664-35DE-43D6-86E2-CBFC9EF78B77}" type="pres">
      <dgm:prSet presAssocID="{9BB3AC24-A439-4B37-A3CF-D247508C7FE1}" presName="linearFlow" presStyleCnt="0">
        <dgm:presLayoutVars>
          <dgm:dir/>
          <dgm:resizeHandles val="exact"/>
        </dgm:presLayoutVars>
      </dgm:prSet>
      <dgm:spPr/>
    </dgm:pt>
    <dgm:pt modelId="{D9B4B0DF-D789-412F-90D4-F5608BE7D554}" type="pres">
      <dgm:prSet presAssocID="{0FFF42A8-D68C-4C93-9A13-1166C30B2746}" presName="composite" presStyleCnt="0"/>
      <dgm:spPr/>
    </dgm:pt>
    <dgm:pt modelId="{6ED915D2-634A-4B5A-BD26-1EFDA4683734}" type="pres">
      <dgm:prSet presAssocID="{0FFF42A8-D68C-4C93-9A13-1166C30B2746}" presName="imgShp" presStyleLbl="fgImgPlace1" presStyleIdx="0" presStyleCnt="7"/>
      <dgm:spPr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</dgm:spPr>
    </dgm:pt>
    <dgm:pt modelId="{1B9AC6C8-5F87-41A2-92C8-96C234F871E1}" type="pres">
      <dgm:prSet presAssocID="{0FFF42A8-D68C-4C93-9A13-1166C30B2746}" presName="txShp" presStyleLbl="node1" presStyleIdx="0" presStyleCnt="7">
        <dgm:presLayoutVars>
          <dgm:bulletEnabled val="1"/>
        </dgm:presLayoutVars>
      </dgm:prSet>
      <dgm:spPr/>
    </dgm:pt>
    <dgm:pt modelId="{FD77956F-64A9-497B-B30E-2A899E7F5E28}" type="pres">
      <dgm:prSet presAssocID="{75F4F0BD-5B08-4C4A-BE69-5CB12D1C8166}" presName="spacing" presStyleCnt="0"/>
      <dgm:spPr/>
    </dgm:pt>
    <dgm:pt modelId="{861D1146-DF8D-418E-AD9B-DCFF9A1FB36C}" type="pres">
      <dgm:prSet presAssocID="{E8175FAF-4189-43D4-82CB-2628C88F82E8}" presName="composite" presStyleCnt="0"/>
      <dgm:spPr/>
    </dgm:pt>
    <dgm:pt modelId="{644C151E-484A-4239-A66E-985898C4C935}" type="pres">
      <dgm:prSet presAssocID="{E8175FAF-4189-43D4-82CB-2628C88F82E8}" presName="imgShp" presStyleLbl="fgImgPlace1" presStyleIdx="1" presStyleCnt="7"/>
      <dgm:spPr>
        <a:blipFill>
          <a:blip xmlns:r="http://schemas.openxmlformats.org/officeDocument/2006/relationships" r:embed="rId2"/>
          <a:srcRect/>
          <a:stretch>
            <a:fillRect l="-10000" r="-10000"/>
          </a:stretch>
        </a:blipFill>
      </dgm:spPr>
    </dgm:pt>
    <dgm:pt modelId="{1236408F-C507-488A-8BF5-99A1D8CD995A}" type="pres">
      <dgm:prSet presAssocID="{E8175FAF-4189-43D4-82CB-2628C88F82E8}" presName="txShp" presStyleLbl="node1" presStyleIdx="1" presStyleCnt="7">
        <dgm:presLayoutVars>
          <dgm:bulletEnabled val="1"/>
        </dgm:presLayoutVars>
      </dgm:prSet>
      <dgm:spPr/>
    </dgm:pt>
    <dgm:pt modelId="{FCC1617D-A208-41CA-8EDA-66A06EE42623}" type="pres">
      <dgm:prSet presAssocID="{B967339D-AE81-4528-A406-2C862341BE8A}" presName="spacing" presStyleCnt="0"/>
      <dgm:spPr/>
    </dgm:pt>
    <dgm:pt modelId="{DE437747-236B-4A7D-BB53-92328CE86B5D}" type="pres">
      <dgm:prSet presAssocID="{2EBE127E-357D-4CAF-84D1-ACA2DFD14F34}" presName="composite" presStyleCnt="0"/>
      <dgm:spPr/>
    </dgm:pt>
    <dgm:pt modelId="{41E5DE2F-0932-4120-8E47-89EAA3AD8E8D}" type="pres">
      <dgm:prSet presAssocID="{2EBE127E-357D-4CAF-84D1-ACA2DFD14F34}" presName="imgShp" presStyleLbl="fgImgPlace1" presStyleIdx="2" presStyleCnt="7"/>
      <dgm:spPr>
        <a:blipFill>
          <a:blip xmlns:r="http://schemas.openxmlformats.org/officeDocument/2006/relationships" r:embed="rId3"/>
          <a:srcRect/>
          <a:stretch>
            <a:fillRect t="-2000" b="-2000"/>
          </a:stretch>
        </a:blipFill>
      </dgm:spPr>
    </dgm:pt>
    <dgm:pt modelId="{64C7F5C0-E150-408B-83D6-4A6ABAB4AB4F}" type="pres">
      <dgm:prSet presAssocID="{2EBE127E-357D-4CAF-84D1-ACA2DFD14F34}" presName="txShp" presStyleLbl="node1" presStyleIdx="2" presStyleCnt="7">
        <dgm:presLayoutVars>
          <dgm:bulletEnabled val="1"/>
        </dgm:presLayoutVars>
      </dgm:prSet>
      <dgm:spPr/>
    </dgm:pt>
    <dgm:pt modelId="{56BFD1BD-E4F3-4F90-84F6-7411733FB06E}" type="pres">
      <dgm:prSet presAssocID="{3D1EC92D-CA79-4988-A8A6-B6D767849702}" presName="spacing" presStyleCnt="0"/>
      <dgm:spPr/>
    </dgm:pt>
    <dgm:pt modelId="{54187FEE-EF71-44CE-A01C-C8AEE5526B6D}" type="pres">
      <dgm:prSet presAssocID="{412ABEDA-8FA6-4A3A-ADF8-0614E3C66AC1}" presName="composite" presStyleCnt="0"/>
      <dgm:spPr/>
    </dgm:pt>
    <dgm:pt modelId="{9D55D9B8-A345-4F49-90E0-06BF1F74706A}" type="pres">
      <dgm:prSet presAssocID="{412ABEDA-8FA6-4A3A-ADF8-0614E3C66AC1}" presName="imgShp" presStyleLbl="fgImgPlace1" presStyleIdx="3" presStyleCnt="7"/>
      <dgm:spPr>
        <a:blipFill>
          <a:blip xmlns:r="http://schemas.openxmlformats.org/officeDocument/2006/relationships" r:embed="rId4"/>
          <a:srcRect/>
          <a:stretch>
            <a:fillRect l="-45000" r="-45000"/>
          </a:stretch>
        </a:blipFill>
      </dgm:spPr>
    </dgm:pt>
    <dgm:pt modelId="{B2C3580F-6AB0-4812-9081-EAD04D250978}" type="pres">
      <dgm:prSet presAssocID="{412ABEDA-8FA6-4A3A-ADF8-0614E3C66AC1}" presName="txShp" presStyleLbl="node1" presStyleIdx="3" presStyleCnt="7">
        <dgm:presLayoutVars>
          <dgm:bulletEnabled val="1"/>
        </dgm:presLayoutVars>
      </dgm:prSet>
      <dgm:spPr/>
    </dgm:pt>
    <dgm:pt modelId="{42F9512C-7785-45DF-B819-CB2F22F3FCD2}" type="pres">
      <dgm:prSet presAssocID="{9A09B302-B393-418B-A852-BB1E96AC91BD}" presName="spacing" presStyleCnt="0"/>
      <dgm:spPr/>
    </dgm:pt>
    <dgm:pt modelId="{3FBD9815-F1EA-40B9-B289-52249DE0E0BB}" type="pres">
      <dgm:prSet presAssocID="{45F793CE-0F11-4349-870D-68E7F02AFA5D}" presName="composite" presStyleCnt="0"/>
      <dgm:spPr/>
    </dgm:pt>
    <dgm:pt modelId="{B9CA6453-7DAA-4E4F-B754-719FD3EFD881}" type="pres">
      <dgm:prSet presAssocID="{45F793CE-0F11-4349-870D-68E7F02AFA5D}" presName="imgShp" presStyleLbl="fgImgPlace1" presStyleIdx="4" presStyleCnt="7"/>
      <dgm:spPr>
        <a:blipFill>
          <a:blip xmlns:r="http://schemas.openxmlformats.org/officeDocument/2006/relationships" r:embed="rId5"/>
          <a:srcRect/>
          <a:stretch>
            <a:fillRect l="-46000" r="-46000"/>
          </a:stretch>
        </a:blipFill>
      </dgm:spPr>
    </dgm:pt>
    <dgm:pt modelId="{27B144B7-69B1-4C80-B9BC-C9C0391CA6B4}" type="pres">
      <dgm:prSet presAssocID="{45F793CE-0F11-4349-870D-68E7F02AFA5D}" presName="txShp" presStyleLbl="node1" presStyleIdx="4" presStyleCnt="7">
        <dgm:presLayoutVars>
          <dgm:bulletEnabled val="1"/>
        </dgm:presLayoutVars>
      </dgm:prSet>
      <dgm:spPr/>
    </dgm:pt>
    <dgm:pt modelId="{1EC6ADAA-3CA8-4FE6-88A6-9C8EC12ED937}" type="pres">
      <dgm:prSet presAssocID="{077155C4-2D1B-489C-AB9D-F62D7BB42C07}" presName="spacing" presStyleCnt="0"/>
      <dgm:spPr/>
    </dgm:pt>
    <dgm:pt modelId="{DCC94ECC-F363-44C9-8FD2-02435A0C0159}" type="pres">
      <dgm:prSet presAssocID="{33E915C0-8F7F-46A8-A3FE-645408F339BC}" presName="composite" presStyleCnt="0"/>
      <dgm:spPr/>
    </dgm:pt>
    <dgm:pt modelId="{F80A4AC6-1B78-4482-A032-554384A70FE6}" type="pres">
      <dgm:prSet presAssocID="{33E915C0-8F7F-46A8-A3FE-645408F339BC}" presName="imgShp" presStyleLbl="fgImgPlace1" presStyleIdx="5" presStyleCnt="7"/>
      <dgm:spPr>
        <a:blipFill>
          <a:blip xmlns:r="http://schemas.openxmlformats.org/officeDocument/2006/relationships" r:embed="rId6"/>
          <a:srcRect/>
          <a:stretch>
            <a:fillRect l="-43000" r="-43000"/>
          </a:stretch>
        </a:blipFill>
      </dgm:spPr>
    </dgm:pt>
    <dgm:pt modelId="{DBC75205-5771-4DAF-B92B-1E76FE7E8244}" type="pres">
      <dgm:prSet presAssocID="{33E915C0-8F7F-46A8-A3FE-645408F339BC}" presName="txShp" presStyleLbl="node1" presStyleIdx="5" presStyleCnt="7">
        <dgm:presLayoutVars>
          <dgm:bulletEnabled val="1"/>
        </dgm:presLayoutVars>
      </dgm:prSet>
      <dgm:spPr/>
    </dgm:pt>
    <dgm:pt modelId="{D392A279-47DE-4771-BE29-DDB818C6DCDA}" type="pres">
      <dgm:prSet presAssocID="{C2EC29C7-BD3E-4376-A098-D7DE04F923E6}" presName="spacing" presStyleCnt="0"/>
      <dgm:spPr/>
    </dgm:pt>
    <dgm:pt modelId="{453F215A-7B57-4261-9163-3B36E34CA873}" type="pres">
      <dgm:prSet presAssocID="{B61398A5-76A1-4EBC-97E2-834833E7C27A}" presName="composite" presStyleCnt="0"/>
      <dgm:spPr/>
    </dgm:pt>
    <dgm:pt modelId="{C9FE8334-9DBA-4DB4-ACB8-003DDAF9E5E0}" type="pres">
      <dgm:prSet presAssocID="{B61398A5-76A1-4EBC-97E2-834833E7C27A}" presName="imgShp" presStyleLbl="fgImgPlace1" presStyleIdx="6" presStyleCnt="7"/>
      <dgm:spPr>
        <a:blipFill>
          <a:blip xmlns:r="http://schemas.openxmlformats.org/officeDocument/2006/relationships" r:embed="rId7"/>
          <a:srcRect/>
          <a:stretch>
            <a:fillRect l="-30000" r="-30000"/>
          </a:stretch>
        </a:blipFill>
      </dgm:spPr>
    </dgm:pt>
    <dgm:pt modelId="{532CBA54-9361-401A-BC62-2690B3EFE4F3}" type="pres">
      <dgm:prSet presAssocID="{B61398A5-76A1-4EBC-97E2-834833E7C27A}" presName="txShp" presStyleLbl="node1" presStyleIdx="6" presStyleCnt="7">
        <dgm:presLayoutVars>
          <dgm:bulletEnabled val="1"/>
        </dgm:presLayoutVars>
      </dgm:prSet>
      <dgm:spPr/>
    </dgm:pt>
  </dgm:ptLst>
  <dgm:cxnLst>
    <dgm:cxn modelId="{B6EC8802-15FC-43F0-B8BD-BFADBCFA3518}" type="presOf" srcId="{45F793CE-0F11-4349-870D-68E7F02AFA5D}" destId="{27B144B7-69B1-4C80-B9BC-C9C0391CA6B4}" srcOrd="0" destOrd="0" presId="urn:microsoft.com/office/officeart/2005/8/layout/vList3"/>
    <dgm:cxn modelId="{3BB8ED05-3FE7-46B3-BB33-5AE41EEBDDE5}" type="presOf" srcId="{412ABEDA-8FA6-4A3A-ADF8-0614E3C66AC1}" destId="{B2C3580F-6AB0-4812-9081-EAD04D250978}" srcOrd="0" destOrd="0" presId="urn:microsoft.com/office/officeart/2005/8/layout/vList3"/>
    <dgm:cxn modelId="{7AE2CD3B-DB20-4FE8-8570-734489D9B9D3}" srcId="{9BB3AC24-A439-4B37-A3CF-D247508C7FE1}" destId="{2EBE127E-357D-4CAF-84D1-ACA2DFD14F34}" srcOrd="2" destOrd="0" parTransId="{2199CD14-41B7-497B-8D9B-759C5A712E39}" sibTransId="{3D1EC92D-CA79-4988-A8A6-B6D767849702}"/>
    <dgm:cxn modelId="{DC08CB61-D3D0-4D72-A4AB-75E61BD1B4DC}" srcId="{9BB3AC24-A439-4B37-A3CF-D247508C7FE1}" destId="{0FFF42A8-D68C-4C93-9A13-1166C30B2746}" srcOrd="0" destOrd="0" parTransId="{CAFD4AAA-AD0E-4CA2-9257-6824C94B0E56}" sibTransId="{75F4F0BD-5B08-4C4A-BE69-5CB12D1C8166}"/>
    <dgm:cxn modelId="{00BDFF63-D9F4-4D39-8940-B77159CA8CBD}" type="presOf" srcId="{2EBE127E-357D-4CAF-84D1-ACA2DFD14F34}" destId="{64C7F5C0-E150-408B-83D6-4A6ABAB4AB4F}" srcOrd="0" destOrd="0" presId="urn:microsoft.com/office/officeart/2005/8/layout/vList3"/>
    <dgm:cxn modelId="{5A5B7F7F-517E-4C98-B885-9DD2E2C0C8CB}" type="presOf" srcId="{9BB3AC24-A439-4B37-A3CF-D247508C7FE1}" destId="{48FA6664-35DE-43D6-86E2-CBFC9EF78B77}" srcOrd="0" destOrd="0" presId="urn:microsoft.com/office/officeart/2005/8/layout/vList3"/>
    <dgm:cxn modelId="{8B234287-9820-4402-985E-243DC825EB74}" type="presOf" srcId="{E8175FAF-4189-43D4-82CB-2628C88F82E8}" destId="{1236408F-C507-488A-8BF5-99A1D8CD995A}" srcOrd="0" destOrd="0" presId="urn:microsoft.com/office/officeart/2005/8/layout/vList3"/>
    <dgm:cxn modelId="{7DF0808E-27FD-4EF1-85D2-4B5ABE14C70D}" type="presOf" srcId="{B61398A5-76A1-4EBC-97E2-834833E7C27A}" destId="{532CBA54-9361-401A-BC62-2690B3EFE4F3}" srcOrd="0" destOrd="0" presId="urn:microsoft.com/office/officeart/2005/8/layout/vList3"/>
    <dgm:cxn modelId="{6030CA91-06BD-4082-9096-0ADFF182AED8}" srcId="{9BB3AC24-A439-4B37-A3CF-D247508C7FE1}" destId="{45F793CE-0F11-4349-870D-68E7F02AFA5D}" srcOrd="4" destOrd="0" parTransId="{D8525347-B289-474B-8CA4-25CE1868B6B9}" sibTransId="{077155C4-2D1B-489C-AB9D-F62D7BB42C07}"/>
    <dgm:cxn modelId="{C6ACD591-B9B0-4466-9EB0-66BB6A619809}" srcId="{9BB3AC24-A439-4B37-A3CF-D247508C7FE1}" destId="{33E915C0-8F7F-46A8-A3FE-645408F339BC}" srcOrd="5" destOrd="0" parTransId="{0158533C-B9A6-45FD-AA65-AC141853ECE3}" sibTransId="{C2EC29C7-BD3E-4376-A098-D7DE04F923E6}"/>
    <dgm:cxn modelId="{960C69BD-1D7D-43F2-A558-EE88EEA2F545}" type="presOf" srcId="{0FFF42A8-D68C-4C93-9A13-1166C30B2746}" destId="{1B9AC6C8-5F87-41A2-92C8-96C234F871E1}" srcOrd="0" destOrd="0" presId="urn:microsoft.com/office/officeart/2005/8/layout/vList3"/>
    <dgm:cxn modelId="{E3C03ECB-E373-4EC2-AB91-AF6EF42D2813}" srcId="{9BB3AC24-A439-4B37-A3CF-D247508C7FE1}" destId="{B61398A5-76A1-4EBC-97E2-834833E7C27A}" srcOrd="6" destOrd="0" parTransId="{A9BCDC4F-F590-46D1-B059-D018D53463DB}" sibTransId="{4DC13806-C94C-4572-AC53-B4E69EF05D50}"/>
    <dgm:cxn modelId="{D31C22D6-FAD2-4C14-B5EC-43B9608B081D}" srcId="{9BB3AC24-A439-4B37-A3CF-D247508C7FE1}" destId="{E8175FAF-4189-43D4-82CB-2628C88F82E8}" srcOrd="1" destOrd="0" parTransId="{935668DC-4FF0-4452-BCBF-1C08723509D2}" sibTransId="{B967339D-AE81-4528-A406-2C862341BE8A}"/>
    <dgm:cxn modelId="{35B2F5E3-1AB0-4931-9611-AB94696ECF06}" type="presOf" srcId="{33E915C0-8F7F-46A8-A3FE-645408F339BC}" destId="{DBC75205-5771-4DAF-B92B-1E76FE7E8244}" srcOrd="0" destOrd="0" presId="urn:microsoft.com/office/officeart/2005/8/layout/vList3"/>
    <dgm:cxn modelId="{343080FF-9C5B-441F-9A19-80AFA8AB7DFB}" srcId="{9BB3AC24-A439-4B37-A3CF-D247508C7FE1}" destId="{412ABEDA-8FA6-4A3A-ADF8-0614E3C66AC1}" srcOrd="3" destOrd="0" parTransId="{ABBA9EC2-E213-44C3-A1A0-D6272E0FE5DD}" sibTransId="{9A09B302-B393-418B-A852-BB1E96AC91BD}"/>
    <dgm:cxn modelId="{411776DA-FF43-4E94-BCEA-60FCFCFCB68E}" type="presParOf" srcId="{48FA6664-35DE-43D6-86E2-CBFC9EF78B77}" destId="{D9B4B0DF-D789-412F-90D4-F5608BE7D554}" srcOrd="0" destOrd="0" presId="urn:microsoft.com/office/officeart/2005/8/layout/vList3"/>
    <dgm:cxn modelId="{F8C54B1D-C6F8-4D11-A185-8024C7E8A24D}" type="presParOf" srcId="{D9B4B0DF-D789-412F-90D4-F5608BE7D554}" destId="{6ED915D2-634A-4B5A-BD26-1EFDA4683734}" srcOrd="0" destOrd="0" presId="urn:microsoft.com/office/officeart/2005/8/layout/vList3"/>
    <dgm:cxn modelId="{C034702B-7B0F-4C7C-B93C-B6301E1648C8}" type="presParOf" srcId="{D9B4B0DF-D789-412F-90D4-F5608BE7D554}" destId="{1B9AC6C8-5F87-41A2-92C8-96C234F871E1}" srcOrd="1" destOrd="0" presId="urn:microsoft.com/office/officeart/2005/8/layout/vList3"/>
    <dgm:cxn modelId="{60CEE935-C9C9-4DA6-A49C-C5A1F4688B16}" type="presParOf" srcId="{48FA6664-35DE-43D6-86E2-CBFC9EF78B77}" destId="{FD77956F-64A9-497B-B30E-2A899E7F5E28}" srcOrd="1" destOrd="0" presId="urn:microsoft.com/office/officeart/2005/8/layout/vList3"/>
    <dgm:cxn modelId="{5F59B663-9B6B-4031-BE4E-8B093BB39A86}" type="presParOf" srcId="{48FA6664-35DE-43D6-86E2-CBFC9EF78B77}" destId="{861D1146-DF8D-418E-AD9B-DCFF9A1FB36C}" srcOrd="2" destOrd="0" presId="urn:microsoft.com/office/officeart/2005/8/layout/vList3"/>
    <dgm:cxn modelId="{FD23EAB4-AF37-4517-9E5A-BFB7F4C66680}" type="presParOf" srcId="{861D1146-DF8D-418E-AD9B-DCFF9A1FB36C}" destId="{644C151E-484A-4239-A66E-985898C4C935}" srcOrd="0" destOrd="0" presId="urn:microsoft.com/office/officeart/2005/8/layout/vList3"/>
    <dgm:cxn modelId="{1B38FBCF-F4CC-4046-A8D3-791406B309F7}" type="presParOf" srcId="{861D1146-DF8D-418E-AD9B-DCFF9A1FB36C}" destId="{1236408F-C507-488A-8BF5-99A1D8CD995A}" srcOrd="1" destOrd="0" presId="urn:microsoft.com/office/officeart/2005/8/layout/vList3"/>
    <dgm:cxn modelId="{6C7E4B90-EDBC-4948-BB60-E54109D434BA}" type="presParOf" srcId="{48FA6664-35DE-43D6-86E2-CBFC9EF78B77}" destId="{FCC1617D-A208-41CA-8EDA-66A06EE42623}" srcOrd="3" destOrd="0" presId="urn:microsoft.com/office/officeart/2005/8/layout/vList3"/>
    <dgm:cxn modelId="{8AF6F120-C27B-488C-B2BE-96233D73D28F}" type="presParOf" srcId="{48FA6664-35DE-43D6-86E2-CBFC9EF78B77}" destId="{DE437747-236B-4A7D-BB53-92328CE86B5D}" srcOrd="4" destOrd="0" presId="urn:microsoft.com/office/officeart/2005/8/layout/vList3"/>
    <dgm:cxn modelId="{1AF43748-7E3B-4E22-9BEB-1EC05453DEB7}" type="presParOf" srcId="{DE437747-236B-4A7D-BB53-92328CE86B5D}" destId="{41E5DE2F-0932-4120-8E47-89EAA3AD8E8D}" srcOrd="0" destOrd="0" presId="urn:microsoft.com/office/officeart/2005/8/layout/vList3"/>
    <dgm:cxn modelId="{1DB94D40-7414-42CB-9EB8-E755888D6736}" type="presParOf" srcId="{DE437747-236B-4A7D-BB53-92328CE86B5D}" destId="{64C7F5C0-E150-408B-83D6-4A6ABAB4AB4F}" srcOrd="1" destOrd="0" presId="urn:microsoft.com/office/officeart/2005/8/layout/vList3"/>
    <dgm:cxn modelId="{085A3F08-F7DF-4683-8727-741D8826F752}" type="presParOf" srcId="{48FA6664-35DE-43D6-86E2-CBFC9EF78B77}" destId="{56BFD1BD-E4F3-4F90-84F6-7411733FB06E}" srcOrd="5" destOrd="0" presId="urn:microsoft.com/office/officeart/2005/8/layout/vList3"/>
    <dgm:cxn modelId="{F0BACD29-59F0-49E1-8886-5E892807BF4F}" type="presParOf" srcId="{48FA6664-35DE-43D6-86E2-CBFC9EF78B77}" destId="{54187FEE-EF71-44CE-A01C-C8AEE5526B6D}" srcOrd="6" destOrd="0" presId="urn:microsoft.com/office/officeart/2005/8/layout/vList3"/>
    <dgm:cxn modelId="{9A6B977A-22DF-4C24-A83A-BD2F99BD9EFA}" type="presParOf" srcId="{54187FEE-EF71-44CE-A01C-C8AEE5526B6D}" destId="{9D55D9B8-A345-4F49-90E0-06BF1F74706A}" srcOrd="0" destOrd="0" presId="urn:microsoft.com/office/officeart/2005/8/layout/vList3"/>
    <dgm:cxn modelId="{AF656DD6-AAFE-4597-A33A-342420DEAB8C}" type="presParOf" srcId="{54187FEE-EF71-44CE-A01C-C8AEE5526B6D}" destId="{B2C3580F-6AB0-4812-9081-EAD04D250978}" srcOrd="1" destOrd="0" presId="urn:microsoft.com/office/officeart/2005/8/layout/vList3"/>
    <dgm:cxn modelId="{24F86156-FE3A-42BC-92F7-9442747F2728}" type="presParOf" srcId="{48FA6664-35DE-43D6-86E2-CBFC9EF78B77}" destId="{42F9512C-7785-45DF-B819-CB2F22F3FCD2}" srcOrd="7" destOrd="0" presId="urn:microsoft.com/office/officeart/2005/8/layout/vList3"/>
    <dgm:cxn modelId="{F1407DA7-FB92-4E74-97A7-E7BE731D2E35}" type="presParOf" srcId="{48FA6664-35DE-43D6-86E2-CBFC9EF78B77}" destId="{3FBD9815-F1EA-40B9-B289-52249DE0E0BB}" srcOrd="8" destOrd="0" presId="urn:microsoft.com/office/officeart/2005/8/layout/vList3"/>
    <dgm:cxn modelId="{DC2C5AFD-3039-49CC-B14A-BCECBA2CBD34}" type="presParOf" srcId="{3FBD9815-F1EA-40B9-B289-52249DE0E0BB}" destId="{B9CA6453-7DAA-4E4F-B754-719FD3EFD881}" srcOrd="0" destOrd="0" presId="urn:microsoft.com/office/officeart/2005/8/layout/vList3"/>
    <dgm:cxn modelId="{E10756B1-3B9B-4A31-BBAD-D977FE4BF82F}" type="presParOf" srcId="{3FBD9815-F1EA-40B9-B289-52249DE0E0BB}" destId="{27B144B7-69B1-4C80-B9BC-C9C0391CA6B4}" srcOrd="1" destOrd="0" presId="urn:microsoft.com/office/officeart/2005/8/layout/vList3"/>
    <dgm:cxn modelId="{B0D92453-47CC-47BB-BB44-97EF1732964A}" type="presParOf" srcId="{48FA6664-35DE-43D6-86E2-CBFC9EF78B77}" destId="{1EC6ADAA-3CA8-4FE6-88A6-9C8EC12ED937}" srcOrd="9" destOrd="0" presId="urn:microsoft.com/office/officeart/2005/8/layout/vList3"/>
    <dgm:cxn modelId="{0F69CEE3-8285-475C-A0A8-FC16C86CD9AE}" type="presParOf" srcId="{48FA6664-35DE-43D6-86E2-CBFC9EF78B77}" destId="{DCC94ECC-F363-44C9-8FD2-02435A0C0159}" srcOrd="10" destOrd="0" presId="urn:microsoft.com/office/officeart/2005/8/layout/vList3"/>
    <dgm:cxn modelId="{A05927C9-A5E4-4407-A8F9-F783FBC6B0A0}" type="presParOf" srcId="{DCC94ECC-F363-44C9-8FD2-02435A0C0159}" destId="{F80A4AC6-1B78-4482-A032-554384A70FE6}" srcOrd="0" destOrd="0" presId="urn:microsoft.com/office/officeart/2005/8/layout/vList3"/>
    <dgm:cxn modelId="{BDAA3411-7D63-4FD4-98D6-3384D30449C7}" type="presParOf" srcId="{DCC94ECC-F363-44C9-8FD2-02435A0C0159}" destId="{DBC75205-5771-4DAF-B92B-1E76FE7E8244}" srcOrd="1" destOrd="0" presId="urn:microsoft.com/office/officeart/2005/8/layout/vList3"/>
    <dgm:cxn modelId="{BC348A42-96F4-4C85-9534-B0667833CC86}" type="presParOf" srcId="{48FA6664-35DE-43D6-86E2-CBFC9EF78B77}" destId="{D392A279-47DE-4771-BE29-DDB818C6DCDA}" srcOrd="11" destOrd="0" presId="urn:microsoft.com/office/officeart/2005/8/layout/vList3"/>
    <dgm:cxn modelId="{9ABB3FB0-C6FF-471E-8D16-637783463948}" type="presParOf" srcId="{48FA6664-35DE-43D6-86E2-CBFC9EF78B77}" destId="{453F215A-7B57-4261-9163-3B36E34CA873}" srcOrd="12" destOrd="0" presId="urn:microsoft.com/office/officeart/2005/8/layout/vList3"/>
    <dgm:cxn modelId="{BD42317C-4386-4787-876F-20604E585463}" type="presParOf" srcId="{453F215A-7B57-4261-9163-3B36E34CA873}" destId="{C9FE8334-9DBA-4DB4-ACB8-003DDAF9E5E0}" srcOrd="0" destOrd="0" presId="urn:microsoft.com/office/officeart/2005/8/layout/vList3"/>
    <dgm:cxn modelId="{5A7CA85F-C64B-42A0-A283-F7F7C5CC0222}" type="presParOf" srcId="{453F215A-7B57-4261-9163-3B36E34CA873}" destId="{532CBA54-9361-401A-BC62-2690B3EFE4F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3B1946-CCAC-4CBC-A214-AA8FF9DCF11F}" type="doc">
      <dgm:prSet loTypeId="urn:microsoft.com/office/officeart/2005/8/layout/process1" loCatId="process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IN"/>
        </a:p>
      </dgm:t>
    </dgm:pt>
    <dgm:pt modelId="{244A0D1B-581C-4F38-857E-08C370D6BEC9}">
      <dgm:prSet phldrT="[Text]" phldr="0"/>
      <dgm:spPr/>
      <dgm:t>
        <a:bodyPr/>
        <a:lstStyle/>
        <a:p>
          <a:r>
            <a:rPr lang="en-US" dirty="0"/>
            <a:t>LAB</a:t>
          </a:r>
          <a:endParaRPr lang="en-IN" dirty="0"/>
        </a:p>
      </dgm:t>
    </dgm:pt>
    <dgm:pt modelId="{75484D33-9840-4580-AF4E-3A3B12B20AAF}" type="parTrans" cxnId="{74474A06-DCC2-4A46-962E-BC92FB007B05}">
      <dgm:prSet/>
      <dgm:spPr/>
      <dgm:t>
        <a:bodyPr/>
        <a:lstStyle/>
        <a:p>
          <a:endParaRPr lang="en-IN"/>
        </a:p>
      </dgm:t>
    </dgm:pt>
    <dgm:pt modelId="{31F925D3-0FDD-48C6-A3AF-7B4AFB770521}" type="sibTrans" cxnId="{74474A06-DCC2-4A46-962E-BC92FB007B05}">
      <dgm:prSet/>
      <dgm:spPr/>
      <dgm:t>
        <a:bodyPr/>
        <a:lstStyle/>
        <a:p>
          <a:endParaRPr lang="en-IN"/>
        </a:p>
      </dgm:t>
    </dgm:pt>
    <dgm:pt modelId="{70B9BDA3-B5BF-414B-897A-3C8B7DFF860E}">
      <dgm:prSet phldrT="[Text]"/>
      <dgm:spPr/>
      <dgm:t>
        <a:bodyPr/>
        <a:lstStyle/>
        <a:p>
          <a:r>
            <a:rPr lang="en-IN" dirty="0"/>
            <a:t>INSTITUTION</a:t>
          </a:r>
        </a:p>
      </dgm:t>
    </dgm:pt>
    <dgm:pt modelId="{E1961B03-E23B-4312-84CA-33EFBD0A0813}" type="parTrans" cxnId="{CBD485EE-B6B3-4142-83A4-036D1ABF6C33}">
      <dgm:prSet/>
      <dgm:spPr/>
      <dgm:t>
        <a:bodyPr/>
        <a:lstStyle/>
        <a:p>
          <a:endParaRPr lang="en-IN"/>
        </a:p>
      </dgm:t>
    </dgm:pt>
    <dgm:pt modelId="{8C12E5D2-4F84-415B-A60F-3231C19F92B1}" type="sibTrans" cxnId="{CBD485EE-B6B3-4142-83A4-036D1ABF6C33}">
      <dgm:prSet/>
      <dgm:spPr/>
      <dgm:t>
        <a:bodyPr/>
        <a:lstStyle/>
        <a:p>
          <a:endParaRPr lang="en-IN"/>
        </a:p>
      </dgm:t>
    </dgm:pt>
    <dgm:pt modelId="{3608D6DA-8465-46D2-8744-5A0907128404}">
      <dgm:prSet phldrT="[Text]"/>
      <dgm:spPr/>
      <dgm:t>
        <a:bodyPr/>
        <a:lstStyle/>
        <a:p>
          <a:r>
            <a:rPr lang="en-IN" dirty="0"/>
            <a:t>MULTI-INSTITUTION SCALE</a:t>
          </a:r>
        </a:p>
      </dgm:t>
    </dgm:pt>
    <dgm:pt modelId="{3457C0F6-E64C-40B6-8434-9D325DCF5E3C}" type="parTrans" cxnId="{3E1F0360-25DB-4B22-A3FE-8D956A546263}">
      <dgm:prSet/>
      <dgm:spPr/>
      <dgm:t>
        <a:bodyPr/>
        <a:lstStyle/>
        <a:p>
          <a:endParaRPr lang="en-IN"/>
        </a:p>
      </dgm:t>
    </dgm:pt>
    <dgm:pt modelId="{FB2D108E-0DA1-4060-B2BC-CC4B91E34BE3}" type="sibTrans" cxnId="{3E1F0360-25DB-4B22-A3FE-8D956A546263}">
      <dgm:prSet/>
      <dgm:spPr/>
      <dgm:t>
        <a:bodyPr/>
        <a:lstStyle/>
        <a:p>
          <a:endParaRPr lang="en-IN"/>
        </a:p>
      </dgm:t>
    </dgm:pt>
    <dgm:pt modelId="{808C7F31-0D28-4F0F-838B-5B84D55856B4}" type="pres">
      <dgm:prSet presAssocID="{F13B1946-CCAC-4CBC-A214-AA8FF9DCF11F}" presName="Name0" presStyleCnt="0">
        <dgm:presLayoutVars>
          <dgm:dir/>
          <dgm:resizeHandles val="exact"/>
        </dgm:presLayoutVars>
      </dgm:prSet>
      <dgm:spPr/>
    </dgm:pt>
    <dgm:pt modelId="{BA28CF5C-196B-469F-98C5-98281074D395}" type="pres">
      <dgm:prSet presAssocID="{244A0D1B-581C-4F38-857E-08C370D6BEC9}" presName="node" presStyleLbl="node1" presStyleIdx="0" presStyleCnt="3">
        <dgm:presLayoutVars>
          <dgm:bulletEnabled val="1"/>
        </dgm:presLayoutVars>
      </dgm:prSet>
      <dgm:spPr/>
    </dgm:pt>
    <dgm:pt modelId="{479B86D1-6BE5-4BCD-A6E0-3801B743AEB9}" type="pres">
      <dgm:prSet presAssocID="{31F925D3-0FDD-48C6-A3AF-7B4AFB770521}" presName="sibTrans" presStyleLbl="sibTrans2D1" presStyleIdx="0" presStyleCnt="2"/>
      <dgm:spPr/>
    </dgm:pt>
    <dgm:pt modelId="{159F511C-F390-451C-8D72-FB39EF6887FC}" type="pres">
      <dgm:prSet presAssocID="{31F925D3-0FDD-48C6-A3AF-7B4AFB770521}" presName="connectorText" presStyleLbl="sibTrans2D1" presStyleIdx="0" presStyleCnt="2"/>
      <dgm:spPr/>
    </dgm:pt>
    <dgm:pt modelId="{AD99334A-8D6F-47B6-80B0-378376B6C027}" type="pres">
      <dgm:prSet presAssocID="{70B9BDA3-B5BF-414B-897A-3C8B7DFF860E}" presName="node" presStyleLbl="node1" presStyleIdx="1" presStyleCnt="3">
        <dgm:presLayoutVars>
          <dgm:bulletEnabled val="1"/>
        </dgm:presLayoutVars>
      </dgm:prSet>
      <dgm:spPr/>
    </dgm:pt>
    <dgm:pt modelId="{ECC1B819-4881-429F-BDC4-9F766973CAAD}" type="pres">
      <dgm:prSet presAssocID="{8C12E5D2-4F84-415B-A60F-3231C19F92B1}" presName="sibTrans" presStyleLbl="sibTrans2D1" presStyleIdx="1" presStyleCnt="2"/>
      <dgm:spPr/>
    </dgm:pt>
    <dgm:pt modelId="{CE27F12B-C455-4E71-B493-D5E1F76F53B4}" type="pres">
      <dgm:prSet presAssocID="{8C12E5D2-4F84-415B-A60F-3231C19F92B1}" presName="connectorText" presStyleLbl="sibTrans2D1" presStyleIdx="1" presStyleCnt="2"/>
      <dgm:spPr/>
    </dgm:pt>
    <dgm:pt modelId="{514E57E5-B583-4E32-ACD3-EAF83E4EC0A2}" type="pres">
      <dgm:prSet presAssocID="{3608D6DA-8465-46D2-8744-5A0907128404}" presName="node" presStyleLbl="node1" presStyleIdx="2" presStyleCnt="3">
        <dgm:presLayoutVars>
          <dgm:bulletEnabled val="1"/>
        </dgm:presLayoutVars>
      </dgm:prSet>
      <dgm:spPr/>
    </dgm:pt>
  </dgm:ptLst>
  <dgm:cxnLst>
    <dgm:cxn modelId="{74474A06-DCC2-4A46-962E-BC92FB007B05}" srcId="{F13B1946-CCAC-4CBC-A214-AA8FF9DCF11F}" destId="{244A0D1B-581C-4F38-857E-08C370D6BEC9}" srcOrd="0" destOrd="0" parTransId="{75484D33-9840-4580-AF4E-3A3B12B20AAF}" sibTransId="{31F925D3-0FDD-48C6-A3AF-7B4AFB770521}"/>
    <dgm:cxn modelId="{2C6C6412-B77B-4082-A20F-180B79FF635B}" type="presOf" srcId="{31F925D3-0FDD-48C6-A3AF-7B4AFB770521}" destId="{479B86D1-6BE5-4BCD-A6E0-3801B743AEB9}" srcOrd="0" destOrd="0" presId="urn:microsoft.com/office/officeart/2005/8/layout/process1"/>
    <dgm:cxn modelId="{3E1F0360-25DB-4B22-A3FE-8D956A546263}" srcId="{F13B1946-CCAC-4CBC-A214-AA8FF9DCF11F}" destId="{3608D6DA-8465-46D2-8744-5A0907128404}" srcOrd="2" destOrd="0" parTransId="{3457C0F6-E64C-40B6-8434-9D325DCF5E3C}" sibTransId="{FB2D108E-0DA1-4060-B2BC-CC4B91E34BE3}"/>
    <dgm:cxn modelId="{06370449-AE67-4C9C-9BBF-0A8F8C81E0B6}" type="presOf" srcId="{F13B1946-CCAC-4CBC-A214-AA8FF9DCF11F}" destId="{808C7F31-0D28-4F0F-838B-5B84D55856B4}" srcOrd="0" destOrd="0" presId="urn:microsoft.com/office/officeart/2005/8/layout/process1"/>
    <dgm:cxn modelId="{D079756B-DBDF-4FF9-967A-DF67D39282E4}" type="presOf" srcId="{70B9BDA3-B5BF-414B-897A-3C8B7DFF860E}" destId="{AD99334A-8D6F-47B6-80B0-378376B6C027}" srcOrd="0" destOrd="0" presId="urn:microsoft.com/office/officeart/2005/8/layout/process1"/>
    <dgm:cxn modelId="{14D06A72-6AEC-4C05-82B7-FFFD1EF27FD8}" type="presOf" srcId="{8C12E5D2-4F84-415B-A60F-3231C19F92B1}" destId="{CE27F12B-C455-4E71-B493-D5E1F76F53B4}" srcOrd="1" destOrd="0" presId="urn:microsoft.com/office/officeart/2005/8/layout/process1"/>
    <dgm:cxn modelId="{3DF1ABA1-47C0-46B5-A5B5-DF4EE760220F}" type="presOf" srcId="{8C12E5D2-4F84-415B-A60F-3231C19F92B1}" destId="{ECC1B819-4881-429F-BDC4-9F766973CAAD}" srcOrd="0" destOrd="0" presId="urn:microsoft.com/office/officeart/2005/8/layout/process1"/>
    <dgm:cxn modelId="{F5AB99A2-A3A1-48F9-95D7-7CE2C188D0E3}" type="presOf" srcId="{244A0D1B-581C-4F38-857E-08C370D6BEC9}" destId="{BA28CF5C-196B-469F-98C5-98281074D395}" srcOrd="0" destOrd="0" presId="urn:microsoft.com/office/officeart/2005/8/layout/process1"/>
    <dgm:cxn modelId="{CE7CCCCA-F6FD-462D-9FA3-7C53898DC9D9}" type="presOf" srcId="{31F925D3-0FDD-48C6-A3AF-7B4AFB770521}" destId="{159F511C-F390-451C-8D72-FB39EF6887FC}" srcOrd="1" destOrd="0" presId="urn:microsoft.com/office/officeart/2005/8/layout/process1"/>
    <dgm:cxn modelId="{A29E51DD-9A5E-42E3-A7E3-9106630015E4}" type="presOf" srcId="{3608D6DA-8465-46D2-8744-5A0907128404}" destId="{514E57E5-B583-4E32-ACD3-EAF83E4EC0A2}" srcOrd="0" destOrd="0" presId="urn:microsoft.com/office/officeart/2005/8/layout/process1"/>
    <dgm:cxn modelId="{CBD485EE-B6B3-4142-83A4-036D1ABF6C33}" srcId="{F13B1946-CCAC-4CBC-A214-AA8FF9DCF11F}" destId="{70B9BDA3-B5BF-414B-897A-3C8B7DFF860E}" srcOrd="1" destOrd="0" parTransId="{E1961B03-E23B-4312-84CA-33EFBD0A0813}" sibTransId="{8C12E5D2-4F84-415B-A60F-3231C19F92B1}"/>
    <dgm:cxn modelId="{4927F9AF-A54B-411A-A3F7-9F9B5BF3E924}" type="presParOf" srcId="{808C7F31-0D28-4F0F-838B-5B84D55856B4}" destId="{BA28CF5C-196B-469F-98C5-98281074D395}" srcOrd="0" destOrd="0" presId="urn:microsoft.com/office/officeart/2005/8/layout/process1"/>
    <dgm:cxn modelId="{5B4A689A-9A97-4EC9-BBE5-DF80A0D6B270}" type="presParOf" srcId="{808C7F31-0D28-4F0F-838B-5B84D55856B4}" destId="{479B86D1-6BE5-4BCD-A6E0-3801B743AEB9}" srcOrd="1" destOrd="0" presId="urn:microsoft.com/office/officeart/2005/8/layout/process1"/>
    <dgm:cxn modelId="{F0E00C5B-9CF9-43D7-A1F7-BF07D85ED78B}" type="presParOf" srcId="{479B86D1-6BE5-4BCD-A6E0-3801B743AEB9}" destId="{159F511C-F390-451C-8D72-FB39EF6887FC}" srcOrd="0" destOrd="0" presId="urn:microsoft.com/office/officeart/2005/8/layout/process1"/>
    <dgm:cxn modelId="{5A8CFC5F-F1FE-44C8-8E20-ECD0ADF7E572}" type="presParOf" srcId="{808C7F31-0D28-4F0F-838B-5B84D55856B4}" destId="{AD99334A-8D6F-47B6-80B0-378376B6C027}" srcOrd="2" destOrd="0" presId="urn:microsoft.com/office/officeart/2005/8/layout/process1"/>
    <dgm:cxn modelId="{B619F5CC-01DA-4AE1-8263-764CF4F50F85}" type="presParOf" srcId="{808C7F31-0D28-4F0F-838B-5B84D55856B4}" destId="{ECC1B819-4881-429F-BDC4-9F766973CAAD}" srcOrd="3" destOrd="0" presId="urn:microsoft.com/office/officeart/2005/8/layout/process1"/>
    <dgm:cxn modelId="{314E0748-13E2-4146-B095-B4B1C3C50A7B}" type="presParOf" srcId="{ECC1B819-4881-429F-BDC4-9F766973CAAD}" destId="{CE27F12B-C455-4E71-B493-D5E1F76F53B4}" srcOrd="0" destOrd="0" presId="urn:microsoft.com/office/officeart/2005/8/layout/process1"/>
    <dgm:cxn modelId="{C75ABF2B-511D-4951-989C-67DE5ABDC3FB}" type="presParOf" srcId="{808C7F31-0D28-4F0F-838B-5B84D55856B4}" destId="{514E57E5-B583-4E32-ACD3-EAF83E4EC0A2}" srcOrd="4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AC6C8-5F87-41A2-92C8-96C234F871E1}">
      <dsp:nvSpPr>
        <dsp:cNvPr id="0" name=""/>
        <dsp:cNvSpPr/>
      </dsp:nvSpPr>
      <dsp:spPr>
        <a:xfrm rot="10800000">
          <a:off x="2511411" y="231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Infrastructure Reuse:</a:t>
          </a:r>
          <a:r>
            <a:rPr lang="en-IN" sz="2400" kern="1200" dirty="0"/>
            <a:t> Integrates with existing </a:t>
          </a:r>
          <a:r>
            <a:rPr lang="en-IN" sz="2400" b="1" kern="1200" dirty="0"/>
            <a:t>CCTV/IP cameras via RTSP/ONVIF</a:t>
          </a:r>
          <a:r>
            <a:rPr lang="en-IN" sz="2400" kern="1200" dirty="0"/>
            <a:t>, minimizing new hardware and deployment cost</a:t>
          </a:r>
        </a:p>
      </dsp:txBody>
      <dsp:txXfrm rot="10800000">
        <a:off x="2730512" y="231"/>
        <a:ext cx="8881712" cy="876405"/>
      </dsp:txXfrm>
    </dsp:sp>
    <dsp:sp modelId="{6ED915D2-634A-4B5A-BD26-1EFDA4683734}">
      <dsp:nvSpPr>
        <dsp:cNvPr id="0" name=""/>
        <dsp:cNvSpPr/>
      </dsp:nvSpPr>
      <dsp:spPr>
        <a:xfrm>
          <a:off x="2073208" y="231"/>
          <a:ext cx="876405" cy="87640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236408F-C507-488A-8BF5-99A1D8CD995A}">
      <dsp:nvSpPr>
        <dsp:cNvPr id="0" name=""/>
        <dsp:cNvSpPr/>
      </dsp:nvSpPr>
      <dsp:spPr>
        <a:xfrm rot="10800000">
          <a:off x="2511411" y="1138250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Tiered Asset Discovery:</a:t>
          </a:r>
          <a:r>
            <a:rPr lang="en-IN" sz="2000" kern="1200" dirty="0"/>
            <a:t> Combines </a:t>
          </a:r>
          <a:r>
            <a:rPr lang="en-IN" sz="2000" b="1" kern="1200" dirty="0"/>
            <a:t>network APIs, lightweight endpoint agents, and QR/barcode identification</a:t>
          </a:r>
          <a:r>
            <a:rPr lang="en-IN" sz="2000" kern="1200" dirty="0"/>
            <a:t> to reliably inventory both modern and legacy laboratory equipment.</a:t>
          </a:r>
        </a:p>
      </dsp:txBody>
      <dsp:txXfrm rot="10800000">
        <a:off x="2730512" y="1138250"/>
        <a:ext cx="8881712" cy="876405"/>
      </dsp:txXfrm>
    </dsp:sp>
    <dsp:sp modelId="{644C151E-484A-4239-A66E-985898C4C935}">
      <dsp:nvSpPr>
        <dsp:cNvPr id="0" name=""/>
        <dsp:cNvSpPr/>
      </dsp:nvSpPr>
      <dsp:spPr>
        <a:xfrm>
          <a:off x="2073208" y="1138250"/>
          <a:ext cx="876405" cy="876405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0000" r="-10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4C7F5C0-E150-408B-83D6-4A6ABAB4AB4F}">
      <dsp:nvSpPr>
        <dsp:cNvPr id="0" name=""/>
        <dsp:cNvSpPr/>
      </dsp:nvSpPr>
      <dsp:spPr>
        <a:xfrm rot="10800000">
          <a:off x="2511411" y="2276269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Proven Technology Stack:</a:t>
          </a:r>
          <a:r>
            <a:rPr lang="en-IN" sz="2000" kern="1200" dirty="0"/>
            <a:t> Uses mature and accessible technologies such as </a:t>
          </a:r>
          <a:r>
            <a:rPr lang="en-IN" sz="2000" b="1" kern="1200" dirty="0"/>
            <a:t>Spring Boot, YOLO and OpenCV</a:t>
          </a:r>
          <a:r>
            <a:rPr lang="en-IN" sz="2000" kern="1200" dirty="0"/>
            <a:t>, reducing development and integration risk.</a:t>
          </a:r>
        </a:p>
      </dsp:txBody>
      <dsp:txXfrm rot="10800000">
        <a:off x="2730512" y="2276269"/>
        <a:ext cx="8881712" cy="876405"/>
      </dsp:txXfrm>
    </dsp:sp>
    <dsp:sp modelId="{41E5DE2F-0932-4120-8E47-89EAA3AD8E8D}">
      <dsp:nvSpPr>
        <dsp:cNvPr id="0" name=""/>
        <dsp:cNvSpPr/>
      </dsp:nvSpPr>
      <dsp:spPr>
        <a:xfrm>
          <a:off x="2073208" y="2276269"/>
          <a:ext cx="876405" cy="87640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2000" b="-2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2C3580F-6AB0-4812-9081-EAD04D250978}">
      <dsp:nvSpPr>
        <dsp:cNvPr id="0" name=""/>
        <dsp:cNvSpPr/>
      </dsp:nvSpPr>
      <dsp:spPr>
        <a:xfrm rot="10800000">
          <a:off x="2511411" y="3414289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Software-First Architecture:</a:t>
          </a:r>
          <a:r>
            <a:rPr lang="en-IN" sz="2000" kern="1200" dirty="0"/>
            <a:t> Requires minimal additional hardware and can support </a:t>
          </a:r>
          <a:r>
            <a:rPr lang="en-IN" sz="2000" b="1" kern="1200" dirty="0"/>
            <a:t>on-premise or institution-controlled deployment</a:t>
          </a:r>
          <a:r>
            <a:rPr lang="en-IN" sz="2000" kern="1200" dirty="0"/>
            <a:t> for sensitive inspection data.</a:t>
          </a:r>
        </a:p>
      </dsp:txBody>
      <dsp:txXfrm rot="10800000">
        <a:off x="2730512" y="3414289"/>
        <a:ext cx="8881712" cy="876405"/>
      </dsp:txXfrm>
    </dsp:sp>
    <dsp:sp modelId="{9D55D9B8-A345-4F49-90E0-06BF1F74706A}">
      <dsp:nvSpPr>
        <dsp:cNvPr id="0" name=""/>
        <dsp:cNvSpPr/>
      </dsp:nvSpPr>
      <dsp:spPr>
        <a:xfrm>
          <a:off x="2073208" y="3414289"/>
          <a:ext cx="876405" cy="876405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45000" r="-45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7B144B7-69B1-4C80-B9BC-C9C0391CA6B4}">
      <dsp:nvSpPr>
        <dsp:cNvPr id="0" name=""/>
        <dsp:cNvSpPr/>
      </dsp:nvSpPr>
      <dsp:spPr>
        <a:xfrm rot="10800000">
          <a:off x="2511411" y="4552308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Human-in-the-Loop Validation:</a:t>
          </a:r>
          <a:r>
            <a:rPr lang="en-IN" sz="2000" kern="1200" dirty="0"/>
            <a:t> AI-generated findings are supported by source evidence and </a:t>
          </a:r>
          <a:r>
            <a:rPr lang="en-IN" sz="2000" b="1" kern="1200" dirty="0"/>
            <a:t>verified by inspectors</a:t>
          </a:r>
          <a:r>
            <a:rPr lang="en-IN" sz="2000" kern="1200" dirty="0"/>
            <a:t>, reducing the impact of AI false positives/negatives.</a:t>
          </a:r>
        </a:p>
      </dsp:txBody>
      <dsp:txXfrm rot="10800000">
        <a:off x="2730512" y="4552308"/>
        <a:ext cx="8881712" cy="876405"/>
      </dsp:txXfrm>
    </dsp:sp>
    <dsp:sp modelId="{B9CA6453-7DAA-4E4F-B754-719FD3EFD881}">
      <dsp:nvSpPr>
        <dsp:cNvPr id="0" name=""/>
        <dsp:cNvSpPr/>
      </dsp:nvSpPr>
      <dsp:spPr>
        <a:xfrm>
          <a:off x="2073208" y="4552308"/>
          <a:ext cx="876405" cy="876405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46000" r="-46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BC75205-5771-4DAF-B92B-1E76FE7E8244}">
      <dsp:nvSpPr>
        <dsp:cNvPr id="0" name=""/>
        <dsp:cNvSpPr/>
      </dsp:nvSpPr>
      <dsp:spPr>
        <a:xfrm rot="10800000">
          <a:off x="2511411" y="5690327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Modular &amp; Scalable:</a:t>
          </a:r>
          <a:r>
            <a:rPr lang="en-IN" sz="2000" kern="1200" dirty="0"/>
            <a:t> The architecture can scale from </a:t>
          </a:r>
          <a:r>
            <a:rPr lang="en-IN" sz="2000" b="1" kern="1200" dirty="0"/>
            <a:t>one laboratory → one institution → multiple institutions</a:t>
          </a:r>
          <a:r>
            <a:rPr lang="en-IN" sz="2000" kern="1200" dirty="0"/>
            <a:t> without redesigning the complete system.</a:t>
          </a:r>
        </a:p>
      </dsp:txBody>
      <dsp:txXfrm rot="10800000">
        <a:off x="2730512" y="5690327"/>
        <a:ext cx="8881712" cy="876405"/>
      </dsp:txXfrm>
    </dsp:sp>
    <dsp:sp modelId="{F80A4AC6-1B78-4482-A032-554384A70FE6}">
      <dsp:nvSpPr>
        <dsp:cNvPr id="0" name=""/>
        <dsp:cNvSpPr/>
      </dsp:nvSpPr>
      <dsp:spPr>
        <a:xfrm>
          <a:off x="2073208" y="5690327"/>
          <a:ext cx="876405" cy="876405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l="-43000" r="-43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32CBA54-9361-401A-BC62-2690B3EFE4F3}">
      <dsp:nvSpPr>
        <dsp:cNvPr id="0" name=""/>
        <dsp:cNvSpPr/>
      </dsp:nvSpPr>
      <dsp:spPr>
        <a:xfrm rot="10800000">
          <a:off x="2511411" y="6828347"/>
          <a:ext cx="9100813" cy="8764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6471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Focused MVP:</a:t>
          </a:r>
          <a:r>
            <a:rPr lang="en-IN" sz="2000" kern="1200" dirty="0"/>
            <a:t> A </a:t>
          </a:r>
          <a:r>
            <a:rPr lang="en-IN" sz="2000" b="1" kern="1200" dirty="0"/>
            <a:t>10-phase vertical development approach</a:t>
          </a:r>
          <a:r>
            <a:rPr lang="en-IN" sz="2000" kern="1200" dirty="0"/>
            <a:t> validates core inspection, asset discovery, evidence reconciliation and reporting capabilities before expanding to diverse legacy equipment.</a:t>
          </a:r>
        </a:p>
      </dsp:txBody>
      <dsp:txXfrm rot="10800000">
        <a:off x="2730512" y="6828347"/>
        <a:ext cx="8881712" cy="876405"/>
      </dsp:txXfrm>
    </dsp:sp>
    <dsp:sp modelId="{C9FE8334-9DBA-4DB4-ACB8-003DDAF9E5E0}">
      <dsp:nvSpPr>
        <dsp:cNvPr id="0" name=""/>
        <dsp:cNvSpPr/>
      </dsp:nvSpPr>
      <dsp:spPr>
        <a:xfrm>
          <a:off x="2073208" y="6828347"/>
          <a:ext cx="876405" cy="876405"/>
        </a:xfrm>
        <a:prstGeom prst="ellipse">
          <a:avLst/>
        </a:prstGeom>
        <a:blipFill>
          <a:blip xmlns:r="http://schemas.openxmlformats.org/officeDocument/2006/relationships" r:embed="rId7"/>
          <a:srcRect/>
          <a:stretch>
            <a:fillRect l="-30000" r="-30000"/>
          </a:stretch>
        </a:blipFill>
        <a:ln w="95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8CF5C-196B-469F-98C5-98281074D395}">
      <dsp:nvSpPr>
        <dsp:cNvPr id="0" name=""/>
        <dsp:cNvSpPr/>
      </dsp:nvSpPr>
      <dsp:spPr>
        <a:xfrm>
          <a:off x="6582" y="1538346"/>
          <a:ext cx="1967581" cy="11805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LAB</a:t>
          </a:r>
          <a:endParaRPr lang="en-IN" sz="2200" kern="1200" dirty="0"/>
        </a:p>
      </dsp:txBody>
      <dsp:txXfrm>
        <a:off x="41159" y="1572923"/>
        <a:ext cx="1898427" cy="1111394"/>
      </dsp:txXfrm>
    </dsp:sp>
    <dsp:sp modelId="{479B86D1-6BE5-4BCD-A6E0-3801B743AEB9}">
      <dsp:nvSpPr>
        <dsp:cNvPr id="0" name=""/>
        <dsp:cNvSpPr/>
      </dsp:nvSpPr>
      <dsp:spPr>
        <a:xfrm>
          <a:off x="2170922" y="1884640"/>
          <a:ext cx="417127" cy="4879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2170922" y="1982232"/>
        <a:ext cx="291989" cy="292776"/>
      </dsp:txXfrm>
    </dsp:sp>
    <dsp:sp modelId="{AD99334A-8D6F-47B6-80B0-378376B6C027}">
      <dsp:nvSpPr>
        <dsp:cNvPr id="0" name=""/>
        <dsp:cNvSpPr/>
      </dsp:nvSpPr>
      <dsp:spPr>
        <a:xfrm>
          <a:off x="2761196" y="1538346"/>
          <a:ext cx="1967581" cy="1180548"/>
        </a:xfrm>
        <a:prstGeom prst="roundRect">
          <a:avLst>
            <a:gd name="adj" fmla="val 1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INSTITUTION</a:t>
          </a:r>
        </a:p>
      </dsp:txBody>
      <dsp:txXfrm>
        <a:off x="2795773" y="1572923"/>
        <a:ext cx="1898427" cy="1111394"/>
      </dsp:txXfrm>
    </dsp:sp>
    <dsp:sp modelId="{ECC1B819-4881-429F-BDC4-9F766973CAAD}">
      <dsp:nvSpPr>
        <dsp:cNvPr id="0" name=""/>
        <dsp:cNvSpPr/>
      </dsp:nvSpPr>
      <dsp:spPr>
        <a:xfrm>
          <a:off x="4925535" y="1884640"/>
          <a:ext cx="417127" cy="4879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4925535" y="1982232"/>
        <a:ext cx="291989" cy="292776"/>
      </dsp:txXfrm>
    </dsp:sp>
    <dsp:sp modelId="{514E57E5-B583-4E32-ACD3-EAF83E4EC0A2}">
      <dsp:nvSpPr>
        <dsp:cNvPr id="0" name=""/>
        <dsp:cNvSpPr/>
      </dsp:nvSpPr>
      <dsp:spPr>
        <a:xfrm>
          <a:off x="5515809" y="1538346"/>
          <a:ext cx="1967581" cy="1180548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MULTI-INSTITUTION SCALE</a:t>
          </a:r>
        </a:p>
      </dsp:txBody>
      <dsp:txXfrm>
        <a:off x="5550386" y="1572923"/>
        <a:ext cx="1898427" cy="1111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1.svg"/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png"/><Relationship Id="rId15" Type="http://schemas.openxmlformats.org/officeDocument/2006/relationships/image" Target="../media/image33.svg"/><Relationship Id="rId10" Type="http://schemas.openxmlformats.org/officeDocument/2006/relationships/image" Target="../media/image28.svg"/><Relationship Id="rId4" Type="http://schemas.openxmlformats.org/officeDocument/2006/relationships/image" Target="../media/image3.pn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ejournals.bc.edu/index.php/ihe/article/view/20689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ugc.gov.in/regulations/?utm_source=chatgpt.com" TargetMode="External"/><Relationship Id="rId5" Type="http://schemas.openxmlformats.org/officeDocument/2006/relationships/hyperlink" Target="https://aicte-qa.aicte-india.org/sites/default/files/APH%20Final.pdf?utm_source=chatgpt.co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76D31E9-B0A3-B7F3-05B1-D583B3C42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8" y="2091858"/>
            <a:ext cx="8429625" cy="1600200"/>
          </a:xfrm>
          <a:prstGeom prst="rect">
            <a:avLst/>
          </a:prstGeom>
          <a:solidFill>
            <a:srgbClr val="EDEDED">
              <a:alpha val="27843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grpSp>
        <p:nvGrpSpPr>
          <p:cNvPr id="2" name="Group 2"/>
          <p:cNvGrpSpPr/>
          <p:nvPr/>
        </p:nvGrpSpPr>
        <p:grpSpPr>
          <a:xfrm>
            <a:off x="354579" y="-1073253"/>
            <a:ext cx="16553145" cy="2720318"/>
            <a:chOff x="0" y="0"/>
            <a:chExt cx="22070860" cy="36270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3627089"/>
            </a:xfrm>
            <a:custGeom>
              <a:avLst/>
              <a:gdLst/>
              <a:ahLst/>
              <a:cxnLst/>
              <a:rect l="l" t="t" r="r" b="b"/>
              <a:pathLst>
                <a:path w="21945600" h="3627089">
                  <a:moveTo>
                    <a:pt x="0" y="0"/>
                  </a:moveTo>
                  <a:lnTo>
                    <a:pt x="21945600" y="0"/>
                  </a:lnTo>
                  <a:lnTo>
                    <a:pt x="21945600" y="3627089"/>
                  </a:lnTo>
                  <a:lnTo>
                    <a:pt x="0" y="36270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560" b="-3022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383" y="472465"/>
              <a:ext cx="21966477" cy="3154625"/>
            </a:xfrm>
            <a:prstGeom prst="rect">
              <a:avLst/>
            </a:prstGeom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dirty="0"/>
            </a:p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Evidence-Driven AI Inspection Platform</a:t>
              </a:r>
            </a:p>
            <a:p>
              <a:pPr algn="ctr">
                <a:lnSpc>
                  <a:spcPts val="6480"/>
                </a:lnSpc>
              </a:pPr>
              <a:endPara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56877" y="1507570"/>
            <a:ext cx="18887997" cy="1708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2400" u="sng">
                <a:latin typeface="Arial"/>
                <a:cs typeface="Arial"/>
              </a:rPr>
              <a:t>PROPOSED SOLUTION </a:t>
            </a:r>
            <a:r>
              <a:rPr lang="en-US" sz="3600" u="sng">
                <a:latin typeface="Arial"/>
                <a:cs typeface="Arial"/>
              </a:rPr>
              <a:t>:</a:t>
            </a:r>
            <a:endParaRPr lang="en-US" sz="3600" u="sng">
              <a:ea typeface="Calibri"/>
              <a:cs typeface="Calibri"/>
            </a:endParaRPr>
          </a:p>
          <a:p>
            <a:pPr marL="353060" lvl="1" algn="l">
              <a:lnSpc>
                <a:spcPts val="4679"/>
              </a:lnSpc>
            </a:pPr>
            <a:endParaRPr lang="en-US" sz="3850" b="1" u="sng">
              <a:solidFill>
                <a:srgbClr val="1F497D"/>
              </a:solidFill>
              <a:latin typeface="Arial Bold"/>
              <a:cs typeface="Arial Bold"/>
            </a:endParaRPr>
          </a:p>
          <a:p>
            <a:pPr marL="651510" lvl="1" indent="-325755" algn="l">
              <a:lnSpc>
                <a:spcPts val="4320"/>
              </a:lnSpc>
            </a:pPr>
            <a:endParaRPr lang="en-US" sz="3899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288" y="206237"/>
            <a:ext cx="1937424" cy="899263"/>
            <a:chOff x="-57157" y="0"/>
            <a:chExt cx="2611635" cy="1781708"/>
          </a:xfrm>
        </p:grpSpPr>
        <p:sp>
          <p:nvSpPr>
            <p:cNvPr id="13" name="Freeform 13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-57157" y="59092"/>
              <a:ext cx="2554516" cy="172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VigilNet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39770" y="2248"/>
            <a:ext cx="2205133" cy="1041225"/>
            <a:chOff x="0" y="0"/>
            <a:chExt cx="2940177" cy="1388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40177" cy="1388237"/>
            </a:xfrm>
            <a:custGeom>
              <a:avLst/>
              <a:gdLst/>
              <a:ahLst/>
              <a:cxnLst/>
              <a:rect l="l" t="t" r="r" b="b"/>
              <a:pathLst>
                <a:path w="2940177" h="1388237">
                  <a:moveTo>
                    <a:pt x="0" y="0"/>
                  </a:moveTo>
                  <a:lnTo>
                    <a:pt x="2940177" y="0"/>
                  </a:lnTo>
                  <a:lnTo>
                    <a:pt x="2940177" y="1388237"/>
                  </a:lnTo>
                  <a:lnTo>
                    <a:pt x="0" y="138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8979728" y="1508317"/>
            <a:ext cx="7399492" cy="1119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2400" u="sng" dirty="0">
                <a:latin typeface="Arial"/>
                <a:cs typeface="Arial"/>
              </a:rPr>
              <a:t>INNOVATION &amp; UNIQUENESS </a:t>
            </a:r>
            <a:r>
              <a:rPr lang="en-US" sz="3600" u="sng" dirty="0">
                <a:latin typeface="Arial"/>
                <a:cs typeface="Arial"/>
              </a:rPr>
              <a:t>:</a:t>
            </a:r>
            <a:endParaRPr lang="en-US" sz="3600" u="sng" dirty="0">
              <a:ea typeface="Calibri"/>
              <a:cs typeface="Calibri"/>
            </a:endParaRPr>
          </a:p>
          <a:p>
            <a:pPr marL="421005" lvl="1" algn="l">
              <a:lnSpc>
                <a:spcPts val="4680"/>
              </a:lnSpc>
            </a:pPr>
            <a:endParaRPr lang="en-US" sz="3900" b="1" u="sng" dirty="0">
              <a:solidFill>
                <a:srgbClr val="1F497D"/>
              </a:solidFill>
              <a:latin typeface="Arial Bold"/>
              <a:cs typeface="Arial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512596" y="870347"/>
            <a:ext cx="12400280" cy="33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50" b="1" u="sng" dirty="0">
                <a:solidFill>
                  <a:schemeClr val="tx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AI-assisted verification of institutional infrastructure, laboratory assets, documents and complianc</a:t>
            </a:r>
            <a:r>
              <a:rPr lang="en-US" sz="2250" b="1" dirty="0">
                <a:solidFill>
                  <a:schemeClr val="tx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7EA7E83-9502-18DC-076B-985101C8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8" y="4075299"/>
            <a:ext cx="8429625" cy="1600200"/>
          </a:xfrm>
          <a:prstGeom prst="rect">
            <a:avLst/>
          </a:prstGeom>
          <a:solidFill>
            <a:srgbClr val="EDEDED">
              <a:alpha val="94902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CCBF441-89C8-7D22-12A8-6468265B4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8" y="6125977"/>
            <a:ext cx="8429625" cy="1600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1A4EF37-FE76-9763-DFFE-D4EB36139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8" y="8210270"/>
            <a:ext cx="8429625" cy="1600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47E9F38-D749-A890-9E71-1515503B40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48" y="2465854"/>
            <a:ext cx="885825" cy="88582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F31E26A-F0CC-586A-9FA7-2363F4F92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48" y="4449297"/>
            <a:ext cx="885825" cy="8858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E2F105F-F85E-BA88-4669-C73724BAB4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48" y="6499973"/>
            <a:ext cx="885825" cy="8858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CE4E9D5-243E-2B1A-0B5B-7D9C78B56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48" y="8567458"/>
            <a:ext cx="885825" cy="8858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4D1C617-6328-FCAE-D154-AC91F8752C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851" y="2663358"/>
            <a:ext cx="457200" cy="4572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7CAC0ED-8483-9D5D-68CC-8F5F97CB6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851" y="4646799"/>
            <a:ext cx="457200" cy="4572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5FB1F8E-3187-367D-350C-DD16D9BECC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851" y="6697476"/>
            <a:ext cx="457200" cy="457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5F6B1AB-C4DE-CB19-FAD9-34642487A6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851" y="8764961"/>
            <a:ext cx="457200" cy="4572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0C82B55-4B04-D3A4-EA6F-5F245A8FCC79}"/>
              </a:ext>
            </a:extLst>
          </p:cNvPr>
          <p:cNvSpPr txBox="1"/>
          <p:nvPr/>
        </p:nvSpPr>
        <p:spPr>
          <a:xfrm>
            <a:off x="1624270" y="2214911"/>
            <a:ext cx="9144000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solidFill>
                  <a:srgbClr val="1D3557"/>
                </a:solidFill>
                <a:latin typeface="Arial"/>
                <a:ea typeface="Calibri"/>
                <a:cs typeface="Arial"/>
              </a:rPr>
              <a:t>Unified Evidence</a:t>
            </a:r>
            <a:endParaRPr lang="en-US" sz="24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7FC234-9072-3B9B-9407-78129EA91215}"/>
              </a:ext>
            </a:extLst>
          </p:cNvPr>
          <p:cNvSpPr txBox="1"/>
          <p:nvPr/>
        </p:nvSpPr>
        <p:spPr>
          <a:xfrm>
            <a:off x="1720087" y="4336617"/>
            <a:ext cx="4603316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AI Visual Inspection</a:t>
            </a:r>
          </a:p>
          <a:p>
            <a:pPr algn="ctr"/>
            <a:endParaRPr lang="en-US" dirty="0">
              <a:solidFill>
                <a:srgbClr val="000000"/>
              </a:solidFill>
              <a:latin typeface="Trade Gothic Next Ligh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327905-7B8D-CC72-B35A-475B929B0BB7}"/>
              </a:ext>
            </a:extLst>
          </p:cNvPr>
          <p:cNvSpPr txBox="1"/>
          <p:nvPr/>
        </p:nvSpPr>
        <p:spPr>
          <a:xfrm>
            <a:off x="1624270" y="6321364"/>
            <a:ext cx="9144000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Smart Document Verification</a:t>
            </a:r>
          </a:p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F79C0E-258E-3D14-E2D1-1AF9E2A4EE9D}"/>
              </a:ext>
            </a:extLst>
          </p:cNvPr>
          <p:cNvSpPr txBox="1"/>
          <p:nvPr/>
        </p:nvSpPr>
        <p:spPr>
          <a:xfrm>
            <a:off x="1624270" y="8423379"/>
            <a:ext cx="9144000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Inspector Verification</a:t>
            </a:r>
          </a:p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234EB2-C849-B022-1822-ABFAF3D4771E}"/>
              </a:ext>
            </a:extLst>
          </p:cNvPr>
          <p:cNvSpPr txBox="1"/>
          <p:nvPr/>
        </p:nvSpPr>
        <p:spPr>
          <a:xfrm>
            <a:off x="1624270" y="2647887"/>
            <a:ext cx="605963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Solves fragmented inspection evidence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by combining CCTV/IP cameras, lab computers, network devices and institutional documents into one verification pipeline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5DBFCC-562B-9CE6-67B6-893239D78DA4}"/>
              </a:ext>
            </a:extLst>
          </p:cNvPr>
          <p:cNvSpPr txBox="1"/>
          <p:nvPr/>
        </p:nvSpPr>
        <p:spPr>
          <a:xfrm>
            <a:off x="1722598" y="4826790"/>
            <a:ext cx="69832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Analyzes camera evidence for equipment presence, occupancy and visible compliance conditions</a:t>
            </a:r>
            <a:r>
              <a:rPr lang="en-US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25FA45-E7B7-8F02-99F7-FE0025A32DEB}"/>
              </a:ext>
            </a:extLst>
          </p:cNvPr>
          <p:cNvSpPr txBox="1"/>
          <p:nvPr/>
        </p:nvSpPr>
        <p:spPr>
          <a:xfrm>
            <a:off x="1728546" y="6861647"/>
            <a:ext cx="65918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rtl="0"/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OCR and structured extraction verifies certificates and compliance documents, linking them directly to evidence</a:t>
            </a:r>
            <a:r>
              <a:rPr lang="en-US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199016-B060-6DC8-24FA-7266D607C65F}"/>
              </a:ext>
            </a:extLst>
          </p:cNvPr>
          <p:cNvSpPr txBox="1"/>
          <p:nvPr/>
        </p:nvSpPr>
        <p:spPr>
          <a:xfrm>
            <a:off x="1722598" y="8959984"/>
            <a:ext cx="6638797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AI flags findings → inspector reviews source evidence → confirms/rejects → corrective action and re-verification</a:t>
            </a:r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ctr"/>
            <a:endParaRPr lang="en-US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4CB2FC7-ED5F-B7B4-F480-016F77CEDB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2629" y="2401632"/>
            <a:ext cx="4038600" cy="3324225"/>
          </a:xfrm>
          <a:prstGeom prst="rect">
            <a:avLst/>
          </a:prstGeom>
          <a:solidFill>
            <a:srgbClr val="1F497D">
              <a:alpha val="85098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490F114-1DF7-B0E8-F60B-3C1C493BC2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64892" y="2433629"/>
            <a:ext cx="3966760" cy="3265093"/>
          </a:xfrm>
          <a:prstGeom prst="rect">
            <a:avLst/>
          </a:prstGeom>
          <a:solidFill>
            <a:schemeClr val="tx2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120EC59-7906-65E9-30FF-FC5DDE4118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1393" y="6646160"/>
            <a:ext cx="4038600" cy="3324225"/>
          </a:xfrm>
          <a:prstGeom prst="rect">
            <a:avLst/>
          </a:prstGeom>
          <a:solidFill>
            <a:srgbClr val="1F497D">
              <a:alpha val="85098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F165294-CE15-625A-8562-5EC1596D03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09670" y="6662791"/>
            <a:ext cx="4038600" cy="3324225"/>
          </a:xfrm>
          <a:prstGeom prst="rect">
            <a:avLst/>
          </a:prstGeom>
          <a:solidFill>
            <a:schemeClr val="tx2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2D5FF1E-C636-23BE-234A-F12AF4E7C8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6430" y="2545050"/>
            <a:ext cx="790575" cy="7905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15B85A1-1AEB-7BD5-0AFD-9F723E864D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8415" y="6777105"/>
            <a:ext cx="738590" cy="69416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463A560-14B2-FE3E-9CD9-79D9EB0388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50329" y="2546515"/>
            <a:ext cx="690724" cy="70167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38EDF86-3114-3362-1218-09D8E1E978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22151" y="6806196"/>
            <a:ext cx="690725" cy="69072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0B948F0-61B6-CB37-0EEF-D06B47BCE6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1998" y="2703978"/>
            <a:ext cx="409575" cy="40957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D9F9850-B2A9-4FCF-21BA-97FAB4B011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1998" y="6897687"/>
            <a:ext cx="425224" cy="43511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77EF9F0-855D-8009-8563-4B7519F9E3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80563" y="2601195"/>
            <a:ext cx="419100" cy="40957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EAD820B-8C94-B847-556D-CD4F1F7387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377795" y="6917196"/>
            <a:ext cx="379436" cy="379436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652508A-1F4B-F1AB-A4B6-B52CFAF21D8F}"/>
              </a:ext>
            </a:extLst>
          </p:cNvPr>
          <p:cNvSpPr txBox="1"/>
          <p:nvPr/>
        </p:nvSpPr>
        <p:spPr>
          <a:xfrm>
            <a:off x="9758415" y="3514527"/>
            <a:ext cx="3710836" cy="923330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 dirty="0">
                <a:latin typeface="Arial"/>
                <a:ea typeface="Arial"/>
                <a:cs typeface="Arial"/>
              </a:rPr>
              <a:t>Existing CCTV as Inspection Sensor</a:t>
            </a:r>
          </a:p>
          <a:p>
            <a:pPr algn="ctr"/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0A1F24-BD2A-B60F-EE5B-A8E45B01351A}"/>
              </a:ext>
            </a:extLst>
          </p:cNvPr>
          <p:cNvSpPr txBox="1"/>
          <p:nvPr/>
        </p:nvSpPr>
        <p:spPr>
          <a:xfrm>
            <a:off x="9893544" y="4255432"/>
            <a:ext cx="325677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rtl="0"/>
            <a:r>
              <a:rPr lang="en-US" kern="1200" dirty="0">
                <a:latin typeface="Arial"/>
                <a:ea typeface="Arial"/>
                <a:cs typeface="Arial"/>
              </a:rPr>
              <a:t>Leverages institutional infrastructure already in place </a:t>
            </a:r>
            <a:r>
              <a:rPr lang="en-US" dirty="0">
                <a:latin typeface="Arial"/>
                <a:ea typeface="Arial"/>
                <a:cs typeface="Arial"/>
              </a:rPr>
              <a:t>-- </a:t>
            </a:r>
            <a:r>
              <a:rPr lang="en-US" kern="1200" dirty="0">
                <a:latin typeface="Arial"/>
                <a:ea typeface="Arial"/>
                <a:cs typeface="Arial"/>
              </a:rPr>
              <a:t>no new hardware required</a:t>
            </a:r>
            <a:r>
              <a:rPr lang="en-US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052786-5B2F-D7F2-F26F-336B1484A15E}"/>
              </a:ext>
            </a:extLst>
          </p:cNvPr>
          <p:cNvSpPr txBox="1"/>
          <p:nvPr/>
        </p:nvSpPr>
        <p:spPr>
          <a:xfrm flipH="1">
            <a:off x="14250329" y="3533468"/>
            <a:ext cx="6513533" cy="646331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 dirty="0">
                <a:latin typeface="Arial"/>
                <a:ea typeface="Arial"/>
                <a:cs typeface="Arial"/>
              </a:rPr>
              <a:t>Technical Asset Discovery</a:t>
            </a:r>
          </a:p>
          <a:p>
            <a:pPr algn="ctr"/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AC08FE-154C-CF07-12A0-4DD661EB3010}"/>
              </a:ext>
            </a:extLst>
          </p:cNvPr>
          <p:cNvSpPr txBox="1"/>
          <p:nvPr/>
        </p:nvSpPr>
        <p:spPr>
          <a:xfrm flipH="1">
            <a:off x="14250329" y="4044996"/>
            <a:ext cx="3883067" cy="1508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kern="1200" dirty="0">
                <a:latin typeface="Arial"/>
                <a:ea typeface="Arial"/>
                <a:cs typeface="Arial"/>
              </a:rPr>
              <a:t>Goes beyond visual inspection to capture device-level compliance data from lab PCs and network devices</a:t>
            </a:r>
            <a:r>
              <a:rPr lang="en-US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10D5DB-C111-1727-EA93-C3E3B7FA0963}"/>
              </a:ext>
            </a:extLst>
          </p:cNvPr>
          <p:cNvSpPr txBox="1"/>
          <p:nvPr/>
        </p:nvSpPr>
        <p:spPr>
          <a:xfrm>
            <a:off x="9689999" y="7784977"/>
            <a:ext cx="3460316" cy="923330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 dirty="0">
                <a:latin typeface="Arial"/>
                <a:ea typeface="Arial"/>
                <a:cs typeface="Arial"/>
              </a:rPr>
              <a:t>Multi-Source Evidence Reconciliation</a:t>
            </a:r>
          </a:p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D08D57-8FE9-95DD-5B98-5F905856BDB3}"/>
              </a:ext>
            </a:extLst>
          </p:cNvPr>
          <p:cNvSpPr txBox="1"/>
          <p:nvPr/>
        </p:nvSpPr>
        <p:spPr>
          <a:xfrm>
            <a:off x="9742706" y="8430267"/>
            <a:ext cx="295927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kern="1200" dirty="0">
                <a:latin typeface="Arial"/>
                <a:ea typeface="Arial"/>
                <a:cs typeface="Arial"/>
              </a:rPr>
              <a:t>Unified verification across visual, technical, and document evidence in a single audit trail</a:t>
            </a:r>
            <a:r>
              <a:rPr lang="en-US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E5B91D-D5FA-3C96-095F-812E01D224CA}"/>
              </a:ext>
            </a:extLst>
          </p:cNvPr>
          <p:cNvSpPr txBox="1"/>
          <p:nvPr/>
        </p:nvSpPr>
        <p:spPr>
          <a:xfrm flipH="1">
            <a:off x="14239156" y="7652796"/>
            <a:ext cx="3241108" cy="923330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 dirty="0">
                <a:latin typeface="Arial"/>
                <a:ea typeface="Arial"/>
                <a:cs typeface="Arial"/>
              </a:rPr>
              <a:t>Explainable Compliance Engine</a:t>
            </a:r>
          </a:p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FDD508-75FC-8095-62D8-38797573DCC0}"/>
              </a:ext>
            </a:extLst>
          </p:cNvPr>
          <p:cNvSpPr txBox="1"/>
          <p:nvPr/>
        </p:nvSpPr>
        <p:spPr>
          <a:xfrm flipH="1">
            <a:off x="14239156" y="8411085"/>
            <a:ext cx="341334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kern="1200" dirty="0">
                <a:latin typeface="Arial"/>
                <a:ea typeface="Arial"/>
                <a:cs typeface="Arial"/>
              </a:rPr>
              <a:t>Transparent, rule-based AI decision-making — humans retain full regulatory authority.</a:t>
            </a:r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BBD17-C988-B80A-79F0-6B55B1A6B7DE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27000"/>
          </a:blip>
          <a:stretch>
            <a:fillRect/>
          </a:stretch>
        </p:blipFill>
        <p:spPr>
          <a:xfrm>
            <a:off x="5842922" y="3457192"/>
            <a:ext cx="5387782" cy="5214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CD7723FA-A636-E941-2490-1539F9FDCAC3}"/>
              </a:ext>
            </a:extLst>
          </p:cNvPr>
          <p:cNvSpPr/>
          <p:nvPr/>
        </p:nvSpPr>
        <p:spPr>
          <a:xfrm>
            <a:off x="11552494" y="6729250"/>
            <a:ext cx="6098700" cy="168869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  <a:alpha val="83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97192" y="-95864"/>
            <a:ext cx="16459200" cy="1735931"/>
            <a:chOff x="0" y="-28575"/>
            <a:chExt cx="21945600" cy="231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132800" cy="1722617"/>
            </a:xfrm>
            <a:prstGeom prst="rect">
              <a:avLst/>
            </a:prstGeom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270827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Arimo"/>
                <a:ea typeface="Arimo"/>
                <a:cs typeface="Arimo"/>
              </a:endParaRP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E08C4AE-9571-0A16-5F59-AC42C1D62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234916"/>
              </p:ext>
            </p:extLst>
          </p:nvPr>
        </p:nvGraphicFramePr>
        <p:xfrm>
          <a:off x="251295" y="1659301"/>
          <a:ext cx="10785812" cy="8155213"/>
        </p:xfrm>
        <a:graphic>
          <a:graphicData uri="http://schemas.openxmlformats.org/drawingml/2006/table">
            <a:tbl>
              <a:tblPr bandRow="1">
                <a:tableStyleId>{D113A9D2-9D6B-4929-AA2D-F23B5EE8CBE7}</a:tableStyleId>
              </a:tblPr>
              <a:tblGrid>
                <a:gridCol w="2948019">
                  <a:extLst>
                    <a:ext uri="{9D8B030D-6E8A-4147-A177-3AD203B41FA5}">
                      <a16:colId xmlns:a16="http://schemas.microsoft.com/office/drawing/2014/main" val="972896063"/>
                    </a:ext>
                  </a:extLst>
                </a:gridCol>
                <a:gridCol w="4390838">
                  <a:extLst>
                    <a:ext uri="{9D8B030D-6E8A-4147-A177-3AD203B41FA5}">
                      <a16:colId xmlns:a16="http://schemas.microsoft.com/office/drawing/2014/main" val="1207523070"/>
                    </a:ext>
                  </a:extLst>
                </a:gridCol>
                <a:gridCol w="3446955">
                  <a:extLst>
                    <a:ext uri="{9D8B030D-6E8A-4147-A177-3AD203B41FA5}">
                      <a16:colId xmlns:a16="http://schemas.microsoft.com/office/drawing/2014/main" val="2425195836"/>
                    </a:ext>
                  </a:extLst>
                </a:gridCol>
              </a:tblGrid>
              <a:tr h="931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366283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React / Next.js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Institution, inspector, and authority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353263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FastAPI</a:t>
                      </a:r>
                      <a:r>
                        <a:rPr lang="en-US" dirty="0"/>
                        <a:t> (Python)/Spring boot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API layer, business logic,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38619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RTSP/NVR + </a:t>
                      </a:r>
                      <a:r>
                        <a:rPr lang="en-US" dirty="0" err="1"/>
                        <a:t>FFmpeg</a:t>
                      </a:r>
                      <a:r>
                        <a:rPr lang="en-US" dirty="0"/>
                        <a:t>/OpenCV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Pulls and normalizes existing CCTV streams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553274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YOLO-family model + 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equipment, occupancy, visual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27036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OCR + structured extraction + LLM/RAG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fields from certificates, invoices,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904650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Asset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 agent + network discovery + SNMP/API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 PC and device inventory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127730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PostgreSQL or 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Institution, inspection, asset, evidence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3656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Object storage / local institutional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Frames, documents, telemetry snapshots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216696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Background workers /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Async CV, OCR, and reconciliation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90058"/>
                  </a:ext>
                </a:extLst>
              </a:tr>
              <a:tr h="408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ReportLab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PDF report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855268"/>
                  </a:ext>
                </a:extLst>
              </a:tr>
              <a:tr h="681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On-premise inspection gateway + central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sensitive data processing, central aggregation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445856"/>
                  </a:ext>
                </a:extLst>
              </a:tr>
            </a:tbl>
          </a:graphicData>
        </a:graphic>
      </p:graphicFrame>
      <p:grpSp>
        <p:nvGrpSpPr>
          <p:cNvPr id="18" name="Group 15">
            <a:extLst>
              <a:ext uri="{FF2B5EF4-FFF2-40B4-BE49-F238E27FC236}">
                <a16:creationId xmlns:a16="http://schemas.microsoft.com/office/drawing/2014/main" id="{55A24D7E-5143-799F-7F3B-AED4C6FA0903}"/>
              </a:ext>
            </a:extLst>
          </p:cNvPr>
          <p:cNvGrpSpPr/>
          <p:nvPr/>
        </p:nvGrpSpPr>
        <p:grpSpPr>
          <a:xfrm>
            <a:off x="15949010" y="25787"/>
            <a:ext cx="2205133" cy="1041178"/>
            <a:chOff x="0" y="0"/>
            <a:chExt cx="2940177" cy="1388237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D4687C1A-241B-678E-719E-FE455B3598CE}"/>
                </a:ext>
              </a:extLst>
            </p:cNvPr>
            <p:cNvSpPr/>
            <p:nvPr/>
          </p:nvSpPr>
          <p:spPr>
            <a:xfrm>
              <a:off x="0" y="0"/>
              <a:ext cx="2940177" cy="1388237"/>
            </a:xfrm>
            <a:custGeom>
              <a:avLst/>
              <a:gdLst/>
              <a:ahLst/>
              <a:cxnLst/>
              <a:rect l="l" t="t" r="r" b="b"/>
              <a:pathLst>
                <a:path w="2940177" h="1388237">
                  <a:moveTo>
                    <a:pt x="0" y="0"/>
                  </a:moveTo>
                  <a:lnTo>
                    <a:pt x="2940177" y="0"/>
                  </a:lnTo>
                  <a:lnTo>
                    <a:pt x="2940177" y="1388237"/>
                  </a:lnTo>
                  <a:lnTo>
                    <a:pt x="0" y="138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"/>
              </a:stretch>
            </a:blipFill>
          </p:spPr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6A662C6E-1A68-F19A-C28E-26E99C2AD3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5781" y="893936"/>
            <a:ext cx="2743200" cy="87359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9243AEA5-819C-8728-51BE-BE54222CC55F}"/>
              </a:ext>
            </a:extLst>
          </p:cNvPr>
          <p:cNvSpPr/>
          <p:nvPr/>
        </p:nvSpPr>
        <p:spPr>
          <a:xfrm>
            <a:off x="13281981" y="2123296"/>
            <a:ext cx="2590800" cy="87359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Evidence Capture</a:t>
            </a:r>
            <a:endParaRPr lang="en-IN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1676F9B3-F674-FB10-3FCC-8A844D4C2311}"/>
              </a:ext>
            </a:extLst>
          </p:cNvPr>
          <p:cNvSpPr/>
          <p:nvPr/>
        </p:nvSpPr>
        <p:spPr>
          <a:xfrm>
            <a:off x="14486746" y="1748299"/>
            <a:ext cx="185100" cy="30480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C0EF76D-CBC6-0CBC-0BF7-C12EFF51D010}"/>
              </a:ext>
            </a:extLst>
          </p:cNvPr>
          <p:cNvSpPr/>
          <p:nvPr/>
        </p:nvSpPr>
        <p:spPr>
          <a:xfrm>
            <a:off x="11296688" y="3390756"/>
            <a:ext cx="1752600" cy="56197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CCTV</a:t>
            </a:r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454BC8E-DFFB-B3BA-E3E7-B30202B0A926}"/>
              </a:ext>
            </a:extLst>
          </p:cNvPr>
          <p:cNvSpPr/>
          <p:nvPr/>
        </p:nvSpPr>
        <p:spPr>
          <a:xfrm>
            <a:off x="13707844" y="3390756"/>
            <a:ext cx="1752600" cy="56197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Lab/IT System</a:t>
            </a:r>
            <a:endParaRPr lang="en-IN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A9B7BF3-1C08-9CB9-B33C-CCEDE08B9DC1}"/>
              </a:ext>
            </a:extLst>
          </p:cNvPr>
          <p:cNvSpPr/>
          <p:nvPr/>
        </p:nvSpPr>
        <p:spPr>
          <a:xfrm>
            <a:off x="16119000" y="3390756"/>
            <a:ext cx="1752600" cy="56197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</a:t>
            </a:r>
            <a:endParaRPr lang="en-IN" dirty="0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F0B5918D-547F-2A28-9A1D-50981FD298A0}"/>
              </a:ext>
            </a:extLst>
          </p:cNvPr>
          <p:cNvSpPr/>
          <p:nvPr/>
        </p:nvSpPr>
        <p:spPr>
          <a:xfrm rot="10800000">
            <a:off x="12138981" y="2518448"/>
            <a:ext cx="1143000" cy="834207"/>
          </a:xfrm>
          <a:prstGeom prst="bentUpArrow">
            <a:avLst>
              <a:gd name="adj1" fmla="val 13387"/>
              <a:gd name="adj2" fmla="val 25000"/>
              <a:gd name="adj3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Bent-Up 46">
            <a:extLst>
              <a:ext uri="{FF2B5EF4-FFF2-40B4-BE49-F238E27FC236}">
                <a16:creationId xmlns:a16="http://schemas.microsoft.com/office/drawing/2014/main" id="{E0378556-79DF-CF8D-FF49-1EC3E2D823E8}"/>
              </a:ext>
            </a:extLst>
          </p:cNvPr>
          <p:cNvSpPr/>
          <p:nvPr/>
        </p:nvSpPr>
        <p:spPr>
          <a:xfrm rot="10800000" flipH="1">
            <a:off x="15872781" y="2518447"/>
            <a:ext cx="1310891" cy="834207"/>
          </a:xfrm>
          <a:prstGeom prst="bentUpArrow">
            <a:avLst>
              <a:gd name="adj1" fmla="val 13387"/>
              <a:gd name="adj2" fmla="val 25000"/>
              <a:gd name="adj3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C2038EA0-2F65-19BF-46DE-4724E0AA2C32}"/>
              </a:ext>
            </a:extLst>
          </p:cNvPr>
          <p:cNvSpPr/>
          <p:nvPr/>
        </p:nvSpPr>
        <p:spPr>
          <a:xfrm>
            <a:off x="14449264" y="2984498"/>
            <a:ext cx="269760" cy="41865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F4F0DA4-8705-3A2A-CD9A-DC14488AE3D7}"/>
              </a:ext>
            </a:extLst>
          </p:cNvPr>
          <p:cNvSpPr/>
          <p:nvPr/>
        </p:nvSpPr>
        <p:spPr>
          <a:xfrm>
            <a:off x="11224581" y="4442133"/>
            <a:ext cx="2057400" cy="561976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Computer vision</a:t>
            </a:r>
            <a:endParaRPr lang="en-IN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FC8EFA4-767D-5B55-BF89-CB81A6213C00}"/>
              </a:ext>
            </a:extLst>
          </p:cNvPr>
          <p:cNvSpPr/>
          <p:nvPr/>
        </p:nvSpPr>
        <p:spPr>
          <a:xfrm>
            <a:off x="13743244" y="4406758"/>
            <a:ext cx="1752600" cy="561976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 Discovery</a:t>
            </a:r>
            <a:endParaRPr lang="en-IN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9778D1F-EEF8-AD4F-1860-DD9F7E2D5B65}"/>
              </a:ext>
            </a:extLst>
          </p:cNvPr>
          <p:cNvSpPr/>
          <p:nvPr/>
        </p:nvSpPr>
        <p:spPr>
          <a:xfrm>
            <a:off x="16154399" y="4406758"/>
            <a:ext cx="1882305" cy="561976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OCR/Document AI</a:t>
            </a:r>
            <a:endParaRPr lang="en-IN" dirty="0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93E2FA14-E0FE-4525-7B75-6149315D4580}"/>
              </a:ext>
            </a:extLst>
          </p:cNvPr>
          <p:cNvSpPr/>
          <p:nvPr/>
        </p:nvSpPr>
        <p:spPr>
          <a:xfrm>
            <a:off x="14484664" y="3952732"/>
            <a:ext cx="269760" cy="41865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2B6F535A-3542-9552-2DD7-0C5C347FBD9C}"/>
              </a:ext>
            </a:extLst>
          </p:cNvPr>
          <p:cNvSpPr/>
          <p:nvPr/>
        </p:nvSpPr>
        <p:spPr>
          <a:xfrm>
            <a:off x="12202723" y="3988107"/>
            <a:ext cx="269760" cy="41865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F79ACD7F-A434-C202-0CE9-218FE701F1A9}"/>
              </a:ext>
            </a:extLst>
          </p:cNvPr>
          <p:cNvSpPr/>
          <p:nvPr/>
        </p:nvSpPr>
        <p:spPr>
          <a:xfrm>
            <a:off x="16960671" y="3949722"/>
            <a:ext cx="269760" cy="41865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Cylinder 61">
            <a:extLst>
              <a:ext uri="{FF2B5EF4-FFF2-40B4-BE49-F238E27FC236}">
                <a16:creationId xmlns:a16="http://schemas.microsoft.com/office/drawing/2014/main" id="{F00F6731-E45C-3B94-62C0-A81F7B1998AB}"/>
              </a:ext>
            </a:extLst>
          </p:cNvPr>
          <p:cNvSpPr/>
          <p:nvPr/>
        </p:nvSpPr>
        <p:spPr>
          <a:xfrm>
            <a:off x="13433091" y="5417310"/>
            <a:ext cx="2337506" cy="870896"/>
          </a:xfrm>
          <a:prstGeom prst="can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Unified Evidence</a:t>
            </a:r>
            <a:endParaRPr lang="en-IN" dirty="0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7ADA23CC-D2D1-513D-54CD-2C1996555AD8}"/>
              </a:ext>
            </a:extLst>
          </p:cNvPr>
          <p:cNvSpPr/>
          <p:nvPr/>
        </p:nvSpPr>
        <p:spPr>
          <a:xfrm>
            <a:off x="14449264" y="4980113"/>
            <a:ext cx="305160" cy="44264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Arrow: Bent-Up 65">
            <a:extLst>
              <a:ext uri="{FF2B5EF4-FFF2-40B4-BE49-F238E27FC236}">
                <a16:creationId xmlns:a16="http://schemas.microsoft.com/office/drawing/2014/main" id="{1C2044EA-FC1E-E0C1-6753-4C627AB776A2}"/>
              </a:ext>
            </a:extLst>
          </p:cNvPr>
          <p:cNvSpPr/>
          <p:nvPr/>
        </p:nvSpPr>
        <p:spPr>
          <a:xfrm rot="5400000">
            <a:off x="12519108" y="4745222"/>
            <a:ext cx="665850" cy="1197511"/>
          </a:xfrm>
          <a:prstGeom prst="bentUpArrow">
            <a:avLst>
              <a:gd name="adj1" fmla="val 7229"/>
              <a:gd name="adj2" fmla="val 14532"/>
              <a:gd name="adj3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Arrow: Bent-Up 67">
            <a:extLst>
              <a:ext uri="{FF2B5EF4-FFF2-40B4-BE49-F238E27FC236}">
                <a16:creationId xmlns:a16="http://schemas.microsoft.com/office/drawing/2014/main" id="{6200C3C5-2AD0-1293-39B8-2B21A861AC7A}"/>
              </a:ext>
            </a:extLst>
          </p:cNvPr>
          <p:cNvSpPr/>
          <p:nvPr/>
        </p:nvSpPr>
        <p:spPr>
          <a:xfrm rot="16200000" flipH="1">
            <a:off x="16118009" y="4683668"/>
            <a:ext cx="675577" cy="1310891"/>
          </a:xfrm>
          <a:prstGeom prst="bentUpArrow">
            <a:avLst>
              <a:gd name="adj1" fmla="val 6637"/>
              <a:gd name="adj2" fmla="val 13187"/>
              <a:gd name="adj3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AA8ECC91-3C09-7D39-6B95-9E12CBB76391}"/>
              </a:ext>
            </a:extLst>
          </p:cNvPr>
          <p:cNvSpPr/>
          <p:nvPr/>
        </p:nvSpPr>
        <p:spPr>
          <a:xfrm>
            <a:off x="14449264" y="6294828"/>
            <a:ext cx="269760" cy="41865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0E09E3E-5968-CDA3-B2BA-4B51B3C40B1A}"/>
              </a:ext>
            </a:extLst>
          </p:cNvPr>
          <p:cNvSpPr/>
          <p:nvPr/>
        </p:nvSpPr>
        <p:spPr>
          <a:xfrm>
            <a:off x="13652072" y="6846356"/>
            <a:ext cx="1934944" cy="5177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 &amp; Review</a:t>
            </a:r>
            <a:endParaRPr lang="en-IN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227BEB9-26EC-696B-5375-7BD9BDD30A38}"/>
              </a:ext>
            </a:extLst>
          </p:cNvPr>
          <p:cNvSpPr/>
          <p:nvPr/>
        </p:nvSpPr>
        <p:spPr>
          <a:xfrm>
            <a:off x="11786733" y="7485354"/>
            <a:ext cx="1568863" cy="87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Expected Vs Actual</a:t>
            </a:r>
            <a:endParaRPr lang="en-IN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01580F6-6CA2-12A0-25EA-1E2D0162EC00}"/>
              </a:ext>
            </a:extLst>
          </p:cNvPr>
          <p:cNvSpPr/>
          <p:nvPr/>
        </p:nvSpPr>
        <p:spPr>
          <a:xfrm>
            <a:off x="13575868" y="7485354"/>
            <a:ext cx="2087351" cy="87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Compliance &amp; Risk</a:t>
            </a:r>
            <a:endParaRPr lang="en-IN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6E07052-2F1C-8392-7C2F-3049DC64F397}"/>
              </a:ext>
            </a:extLst>
          </p:cNvPr>
          <p:cNvSpPr/>
          <p:nvPr/>
        </p:nvSpPr>
        <p:spPr>
          <a:xfrm>
            <a:off x="15887529" y="7500051"/>
            <a:ext cx="1568863" cy="87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Inspector Review</a:t>
            </a:r>
            <a:endParaRPr lang="en-IN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112773C-12FB-D688-4DFB-5986767CCBE1}"/>
              </a:ext>
            </a:extLst>
          </p:cNvPr>
          <p:cNvSpPr/>
          <p:nvPr/>
        </p:nvSpPr>
        <p:spPr>
          <a:xfrm>
            <a:off x="11625100" y="8847320"/>
            <a:ext cx="6098700" cy="1413893"/>
          </a:xfrm>
          <a:prstGeom prst="roundRect">
            <a:avLst/>
          </a:prstGeom>
          <a:solidFill>
            <a:schemeClr val="accent4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57F63C0A-E490-CB02-6436-6784655B6571}"/>
              </a:ext>
            </a:extLst>
          </p:cNvPr>
          <p:cNvSpPr/>
          <p:nvPr/>
        </p:nvSpPr>
        <p:spPr>
          <a:xfrm>
            <a:off x="14449264" y="8446685"/>
            <a:ext cx="269760" cy="41865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0A576B1-0232-F9D5-D3CA-94C16550B462}"/>
              </a:ext>
            </a:extLst>
          </p:cNvPr>
          <p:cNvSpPr/>
          <p:nvPr/>
        </p:nvSpPr>
        <p:spPr>
          <a:xfrm>
            <a:off x="13522171" y="8894781"/>
            <a:ext cx="2110419" cy="350451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Reporting &amp; Action</a:t>
            </a:r>
            <a:endParaRPr lang="en-IN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A3400849-DDFA-A32A-FF58-E55B1C088F48}"/>
              </a:ext>
            </a:extLst>
          </p:cNvPr>
          <p:cNvSpPr/>
          <p:nvPr/>
        </p:nvSpPr>
        <p:spPr>
          <a:xfrm>
            <a:off x="11836828" y="9360327"/>
            <a:ext cx="2168944" cy="811386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 + Corrective Actions</a:t>
            </a:r>
            <a:endParaRPr lang="en-IN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EF4CC70A-05A9-F791-1694-661BE2A7B35E}"/>
              </a:ext>
            </a:extLst>
          </p:cNvPr>
          <p:cNvSpPr/>
          <p:nvPr/>
        </p:nvSpPr>
        <p:spPr>
          <a:xfrm>
            <a:off x="15204656" y="9355406"/>
            <a:ext cx="2168944" cy="811386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Re-Verification</a:t>
            </a:r>
            <a:endParaRPr lang="en-IN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1F6EC7E-85AA-CD99-E872-8E200A4855B4}"/>
              </a:ext>
            </a:extLst>
          </p:cNvPr>
          <p:cNvCxnSpPr>
            <a:endCxn id="95" idx="1"/>
          </p:cNvCxnSpPr>
          <p:nvPr/>
        </p:nvCxnSpPr>
        <p:spPr>
          <a:xfrm>
            <a:off x="14020800" y="9761099"/>
            <a:ext cx="11838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7D22F652-D299-C37C-9FFB-F19F90ED4795}"/>
              </a:ext>
            </a:extLst>
          </p:cNvPr>
          <p:cNvCxnSpPr>
            <a:cxnSpLocks/>
            <a:stCxn id="62" idx="4"/>
            <a:endCxn id="81" idx="3"/>
          </p:cNvCxnSpPr>
          <p:nvPr/>
        </p:nvCxnSpPr>
        <p:spPr>
          <a:xfrm>
            <a:off x="15770597" y="5852758"/>
            <a:ext cx="1953203" cy="3701509"/>
          </a:xfrm>
          <a:prstGeom prst="bentConnector3">
            <a:avLst>
              <a:gd name="adj1" fmla="val 111704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2">
            <a:extLst>
              <a:ext uri="{FF2B5EF4-FFF2-40B4-BE49-F238E27FC236}">
                <a16:creationId xmlns:a16="http://schemas.microsoft.com/office/drawing/2014/main" id="{33AD8BF0-C287-2D8F-87DA-679411C47695}"/>
              </a:ext>
            </a:extLst>
          </p:cNvPr>
          <p:cNvGrpSpPr/>
          <p:nvPr/>
        </p:nvGrpSpPr>
        <p:grpSpPr>
          <a:xfrm>
            <a:off x="78288" y="206237"/>
            <a:ext cx="1937424" cy="899263"/>
            <a:chOff x="-57157" y="0"/>
            <a:chExt cx="2611635" cy="1781708"/>
          </a:xfrm>
        </p:grpSpPr>
        <p:sp>
          <p:nvSpPr>
            <p:cNvPr id="15" name="Freeform 13" descr="Your startup LOGO">
              <a:extLst>
                <a:ext uri="{FF2B5EF4-FFF2-40B4-BE49-F238E27FC236}">
                  <a16:creationId xmlns:a16="http://schemas.microsoft.com/office/drawing/2014/main" id="{EDDF8181-BF0F-8CBA-CFAB-C71506CC5F89}"/>
                </a:ext>
              </a:extLst>
            </p:cNvPr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D3098C92-CB7C-B41C-B88F-D0F9F66798F5}"/>
                </a:ext>
              </a:extLst>
            </p:cNvPr>
            <p:cNvSpPr txBox="1"/>
            <p:nvPr/>
          </p:nvSpPr>
          <p:spPr>
            <a:xfrm>
              <a:off x="-57157" y="59092"/>
              <a:ext cx="2554516" cy="172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VigilNet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5697200" cy="1114864"/>
            <a:chOff x="0" y="0"/>
            <a:chExt cx="21945600" cy="2286000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grpFill/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&amp; VIABILITY</a:t>
              </a:r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2A3C51C5-0BBC-E7E4-28F9-2240735D6900}"/>
              </a:ext>
            </a:extLst>
          </p:cNvPr>
          <p:cNvGrpSpPr/>
          <p:nvPr/>
        </p:nvGrpSpPr>
        <p:grpSpPr>
          <a:xfrm>
            <a:off x="15839770" y="2248"/>
            <a:ext cx="2205133" cy="1041225"/>
            <a:chOff x="0" y="0"/>
            <a:chExt cx="2940177" cy="1388300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674936D-AE76-297B-C61D-C3725E0962E6}"/>
                </a:ext>
              </a:extLst>
            </p:cNvPr>
            <p:cNvSpPr/>
            <p:nvPr/>
          </p:nvSpPr>
          <p:spPr>
            <a:xfrm>
              <a:off x="0" y="0"/>
              <a:ext cx="2940177" cy="1388237"/>
            </a:xfrm>
            <a:custGeom>
              <a:avLst/>
              <a:gdLst/>
              <a:ahLst/>
              <a:cxnLst/>
              <a:rect l="l" t="t" r="r" b="b"/>
              <a:pathLst>
                <a:path w="2940177" h="1388237">
                  <a:moveTo>
                    <a:pt x="0" y="0"/>
                  </a:moveTo>
                  <a:lnTo>
                    <a:pt x="2940177" y="0"/>
                  </a:lnTo>
                  <a:lnTo>
                    <a:pt x="2940177" y="1388237"/>
                  </a:lnTo>
                  <a:lnTo>
                    <a:pt x="0" y="138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"/>
              </a:stretch>
            </a:blipFill>
          </p:spPr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564D505-0B5E-AB61-4BD6-4627A3944AC2}"/>
              </a:ext>
            </a:extLst>
          </p:cNvPr>
          <p:cNvSpPr txBox="1"/>
          <p:nvPr/>
        </p:nvSpPr>
        <p:spPr>
          <a:xfrm>
            <a:off x="486695" y="1288085"/>
            <a:ext cx="6721721" cy="707886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u="sng" dirty="0">
                <a:latin typeface="Arial" panose="020B0604020202020204" pitchFamily="34" charset="0"/>
                <a:cs typeface="Arial" panose="020B0604020202020204" pitchFamily="34" charset="0"/>
              </a:rPr>
              <a:t>Why Feasible &amp; Viable?</a:t>
            </a:r>
            <a:endParaRPr lang="en-US" sz="4000" u="sng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6E14CA9-2646-062C-2854-D140CD3E7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7880452"/>
              </p:ext>
            </p:extLst>
          </p:nvPr>
        </p:nvGraphicFramePr>
        <p:xfrm>
          <a:off x="-1429524" y="2330562"/>
          <a:ext cx="13685434" cy="770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A87A2B5-6B5B-A565-475C-373C81E42542}"/>
              </a:ext>
            </a:extLst>
          </p:cNvPr>
          <p:cNvSpPr txBox="1"/>
          <p:nvPr/>
        </p:nvSpPr>
        <p:spPr>
          <a:xfrm>
            <a:off x="10914694" y="1288085"/>
            <a:ext cx="8114959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u="sng" dirty="0">
                <a:latin typeface="Arial" panose="020B0604020202020204" pitchFamily="34" charset="0"/>
                <a:cs typeface="Arial" panose="020B0604020202020204" pitchFamily="34" charset="0"/>
              </a:rPr>
              <a:t> Challenges </a:t>
            </a:r>
            <a:r>
              <a:rPr lang="en-IN" sz="4000" u="sng">
                <a:latin typeface="Arial" panose="020B0604020202020204" pitchFamily="34" charset="0"/>
                <a:cs typeface="Arial" panose="020B0604020202020204" pitchFamily="34" charset="0"/>
              </a:rPr>
              <a:t>→ Mitigations  </a:t>
            </a:r>
            <a:endParaRPr lang="en-IN" sz="4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95B1998-44EF-4366-70F0-90CB0D1DA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742173"/>
              </p:ext>
            </p:extLst>
          </p:nvPr>
        </p:nvGraphicFramePr>
        <p:xfrm>
          <a:off x="10658165" y="2240630"/>
          <a:ext cx="7489974" cy="5247557"/>
        </p:xfrm>
        <a:graphic>
          <a:graphicData uri="http://schemas.openxmlformats.org/drawingml/2006/table">
            <a:tbl>
              <a:tblPr lastCol="1" bandRow="1" bandCol="1">
                <a:tableStyleId>{E929F9F4-4A8F-4326-A1B4-22849713DDAB}</a:tableStyleId>
              </a:tblPr>
              <a:tblGrid>
                <a:gridCol w="3744987">
                  <a:extLst>
                    <a:ext uri="{9D8B030D-6E8A-4147-A177-3AD203B41FA5}">
                      <a16:colId xmlns:a16="http://schemas.microsoft.com/office/drawing/2014/main" val="4039466024"/>
                    </a:ext>
                  </a:extLst>
                </a:gridCol>
                <a:gridCol w="3744987">
                  <a:extLst>
                    <a:ext uri="{9D8B030D-6E8A-4147-A177-3AD203B41FA5}">
                      <a16:colId xmlns:a16="http://schemas.microsoft.com/office/drawing/2014/main" val="1585193599"/>
                    </a:ext>
                  </a:extLst>
                </a:gridCol>
              </a:tblGrid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CCTV diversity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RTSP/NVR gateway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825DB0">
                        <a:alpha val="9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91593"/>
                  </a:ext>
                </a:extLst>
              </a:tr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Equipment limits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Tiered discovery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  <a:solidFill>
                      <a:srgbClr val="825DB0">
                        <a:alpha val="9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953851"/>
                  </a:ext>
                </a:extLst>
              </a:tr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 Network restrictions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Local agent 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>
                        <a:alpha val="9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81219"/>
                  </a:ext>
                </a:extLst>
              </a:tr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AI errors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Human verification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>
                        <a:alpha val="9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931748"/>
                  </a:ext>
                </a:extLst>
              </a:tr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Privacy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RBAC + encryption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>
                        <a:alpha val="9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837136"/>
                  </a:ext>
                </a:extLst>
              </a:tr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Rule changes 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Versioned rules 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>
                        <a:alpha val="9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204278"/>
                  </a:ext>
                </a:extLst>
              </a:tr>
              <a:tr h="74965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Scale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Modular architecture 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rgbClr val="825D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764852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66717193-8E55-A792-60D4-7BBB6158AE0B}"/>
              </a:ext>
            </a:extLst>
          </p:cNvPr>
          <p:cNvSpPr/>
          <p:nvPr/>
        </p:nvSpPr>
        <p:spPr>
          <a:xfrm>
            <a:off x="13901136" y="2411597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C22E2CF-EC51-8D85-56FB-8F7BE11F49AB}"/>
              </a:ext>
            </a:extLst>
          </p:cNvPr>
          <p:cNvSpPr/>
          <p:nvPr/>
        </p:nvSpPr>
        <p:spPr>
          <a:xfrm>
            <a:off x="13901132" y="3240175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5F2C50E3-226A-F085-B8D5-3B31D6CB51C5}"/>
              </a:ext>
            </a:extLst>
          </p:cNvPr>
          <p:cNvSpPr/>
          <p:nvPr/>
        </p:nvSpPr>
        <p:spPr>
          <a:xfrm>
            <a:off x="13901133" y="5412477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F73F35F-4112-A065-8891-8B2CEBEAC9CA}"/>
              </a:ext>
            </a:extLst>
          </p:cNvPr>
          <p:cNvSpPr/>
          <p:nvPr/>
        </p:nvSpPr>
        <p:spPr>
          <a:xfrm>
            <a:off x="13901134" y="4769329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236E450-3647-1977-ADC0-5BD5AE579D56}"/>
              </a:ext>
            </a:extLst>
          </p:cNvPr>
          <p:cNvSpPr/>
          <p:nvPr/>
        </p:nvSpPr>
        <p:spPr>
          <a:xfrm>
            <a:off x="13901135" y="6255202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62865E6-CBEB-BD2F-2502-2D8F3616FE3D}"/>
              </a:ext>
            </a:extLst>
          </p:cNvPr>
          <p:cNvSpPr/>
          <p:nvPr/>
        </p:nvSpPr>
        <p:spPr>
          <a:xfrm>
            <a:off x="13901135" y="6993429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AAEE592-4D15-E143-064F-B137A9151CA9}"/>
              </a:ext>
            </a:extLst>
          </p:cNvPr>
          <p:cNvSpPr/>
          <p:nvPr/>
        </p:nvSpPr>
        <p:spPr>
          <a:xfrm>
            <a:off x="13949765" y="3978402"/>
            <a:ext cx="865239" cy="190157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FC32308C-35DA-51BC-4625-E429186C5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5900903"/>
              </p:ext>
            </p:extLst>
          </p:nvPr>
        </p:nvGraphicFramePr>
        <p:xfrm>
          <a:off x="10658165" y="6655282"/>
          <a:ext cx="7489974" cy="4257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ADC08EB9-825A-94CE-D380-4323F74AD635}"/>
              </a:ext>
            </a:extLst>
          </p:cNvPr>
          <p:cNvGrpSpPr/>
          <p:nvPr/>
        </p:nvGrpSpPr>
        <p:grpSpPr>
          <a:xfrm>
            <a:off x="78288" y="206237"/>
            <a:ext cx="1937424" cy="899263"/>
            <a:chOff x="-57157" y="0"/>
            <a:chExt cx="2611635" cy="1781708"/>
          </a:xfrm>
        </p:grpSpPr>
        <p:sp>
          <p:nvSpPr>
            <p:cNvPr id="3" name="Freeform 13" descr="Your startup LOGO">
              <a:extLst>
                <a:ext uri="{FF2B5EF4-FFF2-40B4-BE49-F238E27FC236}">
                  <a16:creationId xmlns:a16="http://schemas.microsoft.com/office/drawing/2014/main" id="{D3F4D935-3494-C307-1407-8A770B154D5F}"/>
                </a:ext>
              </a:extLst>
            </p:cNvPr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BD5CC45D-24F0-8F4F-D047-2CF467E1CD10}"/>
                </a:ext>
              </a:extLst>
            </p:cNvPr>
            <p:cNvSpPr txBox="1"/>
            <p:nvPr/>
          </p:nvSpPr>
          <p:spPr>
            <a:xfrm>
              <a:off x="-57157" y="59092"/>
              <a:ext cx="2554516" cy="172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VigilNet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20237"/>
            <a:ext cx="4806001" cy="561976"/>
            <a:chOff x="0" y="-19050"/>
            <a:chExt cx="6408001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Arimo"/>
                <a:ea typeface="Arimo"/>
                <a:cs typeface="Arimo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4394125-2CFF-E0E6-5139-4561A1D207CB}"/>
              </a:ext>
            </a:extLst>
          </p:cNvPr>
          <p:cNvSpPr txBox="1"/>
          <p:nvPr/>
        </p:nvSpPr>
        <p:spPr>
          <a:xfrm>
            <a:off x="5229616" y="1056884"/>
            <a:ext cx="8486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u="sng" kern="1200">
                <a:solidFill>
                  <a:srgbClr val="5B6472"/>
                </a:solidFill>
                <a:latin typeface="Arial"/>
                <a:ea typeface="Arial"/>
                <a:cs typeface="Arial"/>
              </a:rPr>
              <a:t>Who gains from evidence-driven inspection, and what kind of value it creates</a:t>
            </a:r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067846-863C-E456-8994-754BB18D0CBD}"/>
              </a:ext>
            </a:extLst>
          </p:cNvPr>
          <p:cNvSpPr txBox="1"/>
          <p:nvPr/>
        </p:nvSpPr>
        <p:spPr>
          <a:xfrm>
            <a:off x="31316" y="1620555"/>
            <a:ext cx="1366902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spc="100" dirty="0">
                <a:latin typeface="Arial"/>
                <a:ea typeface="Arial"/>
                <a:cs typeface="Arial"/>
              </a:rPr>
              <a:t>IMPACT ON STAKEHOLDERS</a:t>
            </a:r>
            <a:r>
              <a:rPr lang="en-US" sz="2400" b="1" spc="100" dirty="0">
                <a:latin typeface="Arial"/>
                <a:ea typeface="Arial"/>
                <a:cs typeface="Arial"/>
              </a:rPr>
              <a:t> </a:t>
            </a:r>
            <a:r>
              <a:rPr lang="en-US" sz="3200" b="1" spc="100" dirty="0">
                <a:latin typeface="Arial"/>
                <a:ea typeface="Arial"/>
                <a:cs typeface="Arial"/>
              </a:rPr>
              <a:t>:</a:t>
            </a:r>
          </a:p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952B6C-2D0D-6C60-5014-671EB0F7B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73" y="2211691"/>
            <a:ext cx="4143375" cy="30765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82B747-85E4-A310-855A-85B1BEFCE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971" y="2211691"/>
            <a:ext cx="4143375" cy="30765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8299A6F-44DE-EA12-5C46-A465DEA0B6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774" t="-510" r="4151"/>
          <a:stretch>
            <a:fillRect/>
          </a:stretch>
        </p:blipFill>
        <p:spPr>
          <a:xfrm>
            <a:off x="9154765" y="2211691"/>
            <a:ext cx="4127742" cy="30922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455E52-EEC7-CAFD-B22D-4DF65CCAE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1107" y="2211691"/>
            <a:ext cx="4143375" cy="30765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8460C6-3A20-B08F-40C4-95CFB11EF0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35" y="2477871"/>
            <a:ext cx="790575" cy="7905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37D5857-C60D-C157-9101-188C7655D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905" y="2477871"/>
            <a:ext cx="790575" cy="7905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9261C2-DC86-91EB-B7E3-FD126315A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4384" y="2477871"/>
            <a:ext cx="790575" cy="7905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D25871-D1CA-F8AF-FBF7-86B456C37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960" y="2477871"/>
            <a:ext cx="790575" cy="79057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7B1EE0B-0722-A9F2-094E-3002345CD224}"/>
              </a:ext>
            </a:extLst>
          </p:cNvPr>
          <p:cNvSpPr txBox="1"/>
          <p:nvPr/>
        </p:nvSpPr>
        <p:spPr>
          <a:xfrm>
            <a:off x="78288" y="5765575"/>
            <a:ext cx="1363771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spc="100" dirty="0">
                <a:latin typeface="Arial"/>
                <a:ea typeface="Arial"/>
                <a:cs typeface="Arial"/>
              </a:rPr>
              <a:t>BENEFITS BY CATEGORY</a:t>
            </a:r>
            <a:r>
              <a:rPr lang="en-US" sz="2800" b="1" spc="100" dirty="0">
                <a:latin typeface="Arial"/>
                <a:ea typeface="Arial"/>
                <a:cs typeface="Arial"/>
              </a:rPr>
              <a:t> </a:t>
            </a:r>
            <a:r>
              <a:rPr lang="en-US" sz="3200" b="1" spc="100" dirty="0">
                <a:latin typeface="Arial"/>
                <a:ea typeface="Arial"/>
                <a:cs typeface="Arial"/>
              </a:rPr>
              <a:t>:</a:t>
            </a:r>
          </a:p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4F746CC-5EF1-6003-8DDD-A2348DCEA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593" y="6538000"/>
            <a:ext cx="4352925" cy="328612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51AE8DB-3217-EF14-1BCA-544973D1C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195" y="6537999"/>
            <a:ext cx="4352925" cy="328612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48BFC8-0187-CE65-2C93-8D51F1882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333" y="6538000"/>
            <a:ext cx="4352925" cy="328612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61078B6-C093-A100-BA4F-9B00B3EB40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6730" y="6537999"/>
            <a:ext cx="4352925" cy="328612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6399BDA-6340-CB6E-5427-6A6AEF73BD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17" y="6815008"/>
            <a:ext cx="790575" cy="7905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59D83DC-5DBF-AECD-8937-47FBA7A66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4329" y="6815008"/>
            <a:ext cx="790575" cy="7905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E9686AB-FD79-14BD-F605-B8635A433B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5014" y="6815008"/>
            <a:ext cx="790575" cy="7905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CC8A0D0-F690-3A6B-6C89-E3F5BE4E10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84384" y="6815008"/>
            <a:ext cx="790575" cy="7905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AA53D4C-6B9D-D236-1E71-2BB13435F610}"/>
              </a:ext>
            </a:extLst>
          </p:cNvPr>
          <p:cNvSpPr txBox="1"/>
          <p:nvPr/>
        </p:nvSpPr>
        <p:spPr>
          <a:xfrm>
            <a:off x="1456152" y="2434748"/>
            <a:ext cx="12259848" cy="800219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8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Institutions</a:t>
            </a:r>
          </a:p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1A4B09-68E8-842C-7C14-8432131D40DF}"/>
              </a:ext>
            </a:extLst>
          </p:cNvPr>
          <p:cNvSpPr txBox="1"/>
          <p:nvPr/>
        </p:nvSpPr>
        <p:spPr>
          <a:xfrm>
            <a:off x="5918546" y="2450404"/>
            <a:ext cx="3209796" cy="1139311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Regulatory authorities (AICTE)</a:t>
            </a:r>
          </a:p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341991-F708-9D0C-0256-D6F38C28908F}"/>
              </a:ext>
            </a:extLst>
          </p:cNvPr>
          <p:cNvSpPr txBox="1"/>
          <p:nvPr/>
        </p:nvSpPr>
        <p:spPr>
          <a:xfrm>
            <a:off x="10287000" y="2497377"/>
            <a:ext cx="3429000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Students &amp; faculty</a:t>
            </a:r>
          </a:p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719297-F1AF-A9C7-09FA-0D3A2B7807A5}"/>
              </a:ext>
            </a:extLst>
          </p:cNvPr>
          <p:cNvSpPr txBox="1"/>
          <p:nvPr/>
        </p:nvSpPr>
        <p:spPr>
          <a:xfrm flipH="1">
            <a:off x="14812027" y="2497377"/>
            <a:ext cx="2959273" cy="1107996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Higher-education ecosystem</a:t>
            </a:r>
          </a:p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61F8BF-40B2-37B2-A4E2-9160329873EF}"/>
              </a:ext>
            </a:extLst>
          </p:cNvPr>
          <p:cNvSpPr txBox="1"/>
          <p:nvPr/>
        </p:nvSpPr>
        <p:spPr>
          <a:xfrm>
            <a:off x="1268260" y="6840033"/>
            <a:ext cx="12447740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Economic</a:t>
            </a:r>
          </a:p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F5A317-E745-5231-E92A-5BCCD69AD892}"/>
              </a:ext>
            </a:extLst>
          </p:cNvPr>
          <p:cNvSpPr txBox="1"/>
          <p:nvPr/>
        </p:nvSpPr>
        <p:spPr>
          <a:xfrm>
            <a:off x="5777629" y="6808718"/>
            <a:ext cx="7938370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Social</a:t>
            </a:r>
          </a:p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74D436-0C16-7F5B-2055-ADA755533AB1}"/>
              </a:ext>
            </a:extLst>
          </p:cNvPr>
          <p:cNvSpPr txBox="1"/>
          <p:nvPr/>
        </p:nvSpPr>
        <p:spPr>
          <a:xfrm>
            <a:off x="10302655" y="6777404"/>
            <a:ext cx="3413344" cy="1107996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Institutional / governance</a:t>
            </a:r>
          </a:p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1F1087-8CCD-6469-2404-939F8F1347B6}"/>
              </a:ext>
            </a:extLst>
          </p:cNvPr>
          <p:cNvSpPr txBox="1"/>
          <p:nvPr/>
        </p:nvSpPr>
        <p:spPr>
          <a:xfrm flipH="1">
            <a:off x="14796369" y="6855692"/>
            <a:ext cx="2395603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>
                <a:solidFill>
                  <a:srgbClr val="1D3557"/>
                </a:solidFill>
                <a:latin typeface="Arial"/>
                <a:ea typeface="Arial"/>
                <a:cs typeface="Arial"/>
              </a:rPr>
              <a:t>Environmental</a:t>
            </a:r>
          </a:p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0C7CD3-77E5-38CB-56A8-147FFEF09B4E}"/>
              </a:ext>
            </a:extLst>
          </p:cNvPr>
          <p:cNvSpPr txBox="1"/>
          <p:nvPr/>
        </p:nvSpPr>
        <p:spPr>
          <a:xfrm>
            <a:off x="496178" y="3235285"/>
            <a:ext cx="4055303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Faster, less disruptive inspections; a clear evidence-backed view of their own compliance status; corrective actions are tracked instead of re-litigated each cycle.</a:t>
            </a:r>
          </a:p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C72698-522F-CDB1-E058-01ED67CC19C8}"/>
              </a:ext>
            </a:extLst>
          </p:cNvPr>
          <p:cNvSpPr txBox="1"/>
          <p:nvPr/>
        </p:nvSpPr>
        <p:spPr>
          <a:xfrm>
            <a:off x="5000690" y="3220754"/>
            <a:ext cx="4117933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Auditable, multi-source verification reduces reliance on self-reported data and gives authorities a defensible, traceable basis for approval decisions.</a:t>
            </a:r>
          </a:p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CFEBF4-271A-51F5-8D1B-03A34342444F}"/>
              </a:ext>
            </a:extLst>
          </p:cNvPr>
          <p:cNvSpPr txBox="1"/>
          <p:nvPr/>
        </p:nvSpPr>
        <p:spPr>
          <a:xfrm>
            <a:off x="9482561" y="3235284"/>
            <a:ext cx="3507288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Greater assurance that declared labs, safety facilities and equipment actually exist, are counted, and are in working condition.</a:t>
            </a:r>
          </a:p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AAC8C5-B3CE-7C98-D018-FFA0FD6525A7}"/>
              </a:ext>
            </a:extLst>
          </p:cNvPr>
          <p:cNvSpPr txBox="1"/>
          <p:nvPr/>
        </p:nvSpPr>
        <p:spPr>
          <a:xfrm flipH="1">
            <a:off x="13884384" y="3220754"/>
            <a:ext cx="4086617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Directly addresses the credibility concerns raised around NAAC assessments and the NIRF verification challenge cited in the source material.</a:t>
            </a:r>
          </a:p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7B17BE-3EDF-7998-1AB9-2F4A12172B69}"/>
              </a:ext>
            </a:extLst>
          </p:cNvPr>
          <p:cNvSpPr txBox="1"/>
          <p:nvPr/>
        </p:nvSpPr>
        <p:spPr>
          <a:xfrm>
            <a:off x="334900" y="7547382"/>
            <a:ext cx="389872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Cuts manual verification effort by reusing existing CCTV and lab infrastructure instead of new hardware; inspector review time falls as evidence is pre-</a:t>
            </a:r>
            <a:r>
              <a:rPr lang="en-US" sz="2000" kern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organised</a:t>
            </a:r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405120-EE26-A611-7323-0C5F4131BD08}"/>
              </a:ext>
            </a:extLst>
          </p:cNvPr>
          <p:cNvSpPr txBox="1"/>
          <p:nvPr/>
        </p:nvSpPr>
        <p:spPr>
          <a:xfrm>
            <a:off x="4787765" y="7549080"/>
            <a:ext cx="3836098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Builds public trust in institutional quality claims and gives students, parents and employers a more reliable signal of what an institution actually offers.</a:t>
            </a:r>
          </a:p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FC244E-2D43-827F-137E-9CABFCFDE5ED}"/>
              </a:ext>
            </a:extLst>
          </p:cNvPr>
          <p:cNvSpPr txBox="1"/>
          <p:nvPr/>
        </p:nvSpPr>
        <p:spPr>
          <a:xfrm>
            <a:off x="9316364" y="7563631"/>
            <a:ext cx="3632551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Every finding is traceable to a rule, an evidence item, a timestamp and an inspector decision — supporting consistent, defensible governance.</a:t>
            </a:r>
          </a:p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28C6E7-86A6-1E75-BEAA-6FF4B51ACAB9}"/>
              </a:ext>
            </a:extLst>
          </p:cNvPr>
          <p:cNvSpPr txBox="1"/>
          <p:nvPr/>
        </p:nvSpPr>
        <p:spPr>
          <a:xfrm flipH="1">
            <a:off x="13884129" y="7605583"/>
            <a:ext cx="3413342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kern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Fewer repeat physical site visits and less paper-based stock-register reconciliation, through sampled digital evidence and on-premise processing.</a:t>
            </a:r>
          </a:p>
          <a:p>
            <a:pPr algn="ctr"/>
            <a:endParaRPr lang="en-US" dirty="0"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21694E65-D1CA-F7DC-E1AF-076E827EF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225" y="2447272"/>
            <a:ext cx="695195" cy="836113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DAF74DF-2624-ABFC-FB8F-F80F60BFA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7675" y="6862696"/>
            <a:ext cx="663881" cy="726511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F725F6D-7A86-5C55-3FFD-6DB8E07DD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3964" y="6800067"/>
            <a:ext cx="601250" cy="78914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1689F6E4-B197-AB2D-08BF-F309AF76D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79047" y="6909670"/>
            <a:ext cx="585592" cy="616907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2383067A-F9AD-5D93-5CDB-4FB741019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947731" y="2509901"/>
            <a:ext cx="648223" cy="710853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607DDD4-1D47-38B1-D40E-43F7A6D82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63621" y="2462930"/>
            <a:ext cx="601250" cy="78914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D3B9CF26-0760-CF64-F9CD-0592882AB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38361" y="6847040"/>
            <a:ext cx="726511" cy="742168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8F071AA3-BE8E-3E01-91AD-FDC4CBA07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75965" y="2478587"/>
            <a:ext cx="804798" cy="789141"/>
          </a:xfrm>
          <a:prstGeom prst="rect">
            <a:avLst/>
          </a:prstGeom>
        </p:spPr>
      </p:pic>
      <p:grpSp>
        <p:nvGrpSpPr>
          <p:cNvPr id="2" name="Group 12">
            <a:extLst>
              <a:ext uri="{FF2B5EF4-FFF2-40B4-BE49-F238E27FC236}">
                <a16:creationId xmlns:a16="http://schemas.microsoft.com/office/drawing/2014/main" id="{2B5D02AE-8F7B-104A-6F5F-24E288923F10}"/>
              </a:ext>
            </a:extLst>
          </p:cNvPr>
          <p:cNvGrpSpPr/>
          <p:nvPr/>
        </p:nvGrpSpPr>
        <p:grpSpPr>
          <a:xfrm>
            <a:off x="78288" y="206237"/>
            <a:ext cx="1937424" cy="899263"/>
            <a:chOff x="-57157" y="0"/>
            <a:chExt cx="2611635" cy="1781708"/>
          </a:xfrm>
        </p:grpSpPr>
        <p:sp>
          <p:nvSpPr>
            <p:cNvPr id="3" name="Freeform 13" descr="Your startup LOGO">
              <a:extLst>
                <a:ext uri="{FF2B5EF4-FFF2-40B4-BE49-F238E27FC236}">
                  <a16:creationId xmlns:a16="http://schemas.microsoft.com/office/drawing/2014/main" id="{71D228E0-4ED6-5FAE-785B-7278CCD330BC}"/>
                </a:ext>
              </a:extLst>
            </p:cNvPr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EC0C6541-7A07-F949-B30E-11D614E3D6CF}"/>
                </a:ext>
              </a:extLst>
            </p:cNvPr>
            <p:cNvSpPr txBox="1"/>
            <p:nvPr/>
          </p:nvSpPr>
          <p:spPr>
            <a:xfrm>
              <a:off x="-57157" y="59092"/>
              <a:ext cx="2554516" cy="172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VigilNet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7C06D1-C024-984E-3A84-F5F1AA14820D}"/>
              </a:ext>
            </a:extLst>
          </p:cNvPr>
          <p:cNvSpPr/>
          <p:nvPr/>
        </p:nvSpPr>
        <p:spPr>
          <a:xfrm>
            <a:off x="413507" y="1871198"/>
            <a:ext cx="17631424" cy="7684989"/>
          </a:xfrm>
          <a:prstGeom prst="roundRect">
            <a:avLst/>
          </a:prstGeom>
          <a:pattFill prst="pct80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DDAC7-688F-A201-A65B-A3ECBF08CB18}"/>
              </a:ext>
            </a:extLst>
          </p:cNvPr>
          <p:cNvSpPr txBox="1"/>
          <p:nvPr/>
        </p:nvSpPr>
        <p:spPr>
          <a:xfrm>
            <a:off x="1283110" y="2151384"/>
            <a:ext cx="3158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i="1" dirty="0"/>
              <a:t>Primary References: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4674FD-4F4E-A992-8FD1-4CCEC126267D}"/>
              </a:ext>
            </a:extLst>
          </p:cNvPr>
          <p:cNvSpPr txBox="1"/>
          <p:nvPr/>
        </p:nvSpPr>
        <p:spPr>
          <a:xfrm>
            <a:off x="1283110" y="2817002"/>
            <a:ext cx="165405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</a:rPr>
              <a:t>AICTE Approval Process Handbook 2024–27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— inspection procedures, infrastructure and compliance requirements.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                                                                                            Link: 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hlinkClick r:id="rId5"/>
              </a:rPr>
              <a:t>AICTE Approval Process Handbook</a:t>
            </a:r>
            <a:endParaRPr lang="en-US" sz="24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</a:rPr>
              <a:t>UGC Regulations on Assessment &amp; Accreditation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— emphasizes transparent, objective and verifiable assessment. 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                                                                                             Link: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hlinkClick r:id="rId6"/>
              </a:rPr>
              <a:t>UGC Regulations</a:t>
            </a: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</a:rPr>
              <a:t>Pushkar (2025), International Higher Education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—highlights credibility, verification and regulatory gaps in Indian higher education.                                                                     Link: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hlinkClick r:id="rId7"/>
              </a:rPr>
              <a:t>Research Paper – Pushkar (2025)</a:t>
            </a: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1F1416-BAC2-2F7F-8009-353BD648EDA6}"/>
              </a:ext>
            </a:extLst>
          </p:cNvPr>
          <p:cNvSpPr txBox="1"/>
          <p:nvPr/>
        </p:nvSpPr>
        <p:spPr>
          <a:xfrm>
            <a:off x="1433541" y="5386852"/>
            <a:ext cx="2908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dirty="0"/>
              <a:t>Research Areas: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1830B2-12D8-BAEA-4C36-CEA6BE3B33A3}"/>
              </a:ext>
            </a:extLst>
          </p:cNvPr>
          <p:cNvSpPr txBox="1"/>
          <p:nvPr/>
        </p:nvSpPr>
        <p:spPr>
          <a:xfrm>
            <a:off x="1283109" y="5898765"/>
            <a:ext cx="155566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Computer Vision for automated inspection.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OCR &amp; Document AI for evidence verification.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Rule-based Compliance &amp; Anomaly Detection.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Human-in-the-Loop AI for reliable decisions.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85D7DD-11C2-DEBC-614C-B06855A6F89B}"/>
              </a:ext>
            </a:extLst>
          </p:cNvPr>
          <p:cNvSpPr txBox="1"/>
          <p:nvPr/>
        </p:nvSpPr>
        <p:spPr>
          <a:xfrm>
            <a:off x="1283109" y="7766284"/>
            <a:ext cx="4837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Research → Solution Pathway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19F480-3135-9318-5E58-0F2C6496572F}"/>
              </a:ext>
            </a:extLst>
          </p:cNvPr>
          <p:cNvSpPr txBox="1"/>
          <p:nvPr/>
        </p:nvSpPr>
        <p:spPr>
          <a:xfrm>
            <a:off x="1235178" y="8316873"/>
            <a:ext cx="12709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Regulatory Requirements → Evidence Collection → AI-Assisted Verification → Compliance Report</a:t>
            </a: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6ABA7785-D97E-CD63-990E-9E0B48B48BCF}"/>
              </a:ext>
            </a:extLst>
          </p:cNvPr>
          <p:cNvGrpSpPr/>
          <p:nvPr/>
        </p:nvGrpSpPr>
        <p:grpSpPr>
          <a:xfrm>
            <a:off x="78288" y="206237"/>
            <a:ext cx="1937424" cy="899263"/>
            <a:chOff x="-57157" y="0"/>
            <a:chExt cx="2611635" cy="1781708"/>
          </a:xfrm>
        </p:grpSpPr>
        <p:sp>
          <p:nvSpPr>
            <p:cNvPr id="7" name="Freeform 13" descr="Your startup LOGO">
              <a:extLst>
                <a:ext uri="{FF2B5EF4-FFF2-40B4-BE49-F238E27FC236}">
                  <a16:creationId xmlns:a16="http://schemas.microsoft.com/office/drawing/2014/main" id="{5F441625-5AA7-F300-4038-7F77E735F278}"/>
                </a:ext>
              </a:extLst>
            </p:cNvPr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73A93437-3808-F4BF-2DC6-869A25396CDF}"/>
                </a:ext>
              </a:extLst>
            </p:cNvPr>
            <p:cNvSpPr txBox="1"/>
            <p:nvPr/>
          </p:nvSpPr>
          <p:spPr>
            <a:xfrm>
              <a:off x="-57157" y="59092"/>
              <a:ext cx="2554516" cy="172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VigilNet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947</Words>
  <Application>Microsoft Office PowerPoint</Application>
  <PresentationFormat>Custom</PresentationFormat>
  <Paragraphs>159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Wingdings</vt:lpstr>
      <vt:lpstr>Arimo</vt:lpstr>
      <vt:lpstr>Arial Bold</vt:lpstr>
      <vt:lpstr>Trade Gothic Next Light</vt:lpstr>
      <vt:lpstr>Arial</vt:lpstr>
      <vt:lpstr>Calibri (MS)</vt:lpstr>
      <vt:lpstr>Times New Roman Bold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1.pptx</dc:title>
  <dc:creator>Harshit Singh</dc:creator>
  <cp:lastModifiedBy>Harshit Singh</cp:lastModifiedBy>
  <cp:revision>15</cp:revision>
  <dcterms:created xsi:type="dcterms:W3CDTF">2006-08-16T00:00:00Z</dcterms:created>
  <dcterms:modified xsi:type="dcterms:W3CDTF">2026-09-16T06:02:55Z</dcterms:modified>
  <dc:identifier>DAHSVqORjpA</dc:identifier>
</cp:coreProperties>
</file>